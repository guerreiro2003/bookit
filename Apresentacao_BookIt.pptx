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457200" cy="457200"/>
          </a:xfrm>
          <a:prstGeom prst="ellipse">
            <a:avLst/>
          </a:prstGeom>
          <a:ln w="10160">
            <a:solidFill>
              <a:srgbClr val="4F59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5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8016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Guerreiro 20221080  ·  Tomás Ramos 20210834  ·  Alberto Zumbi 50036118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It.</a:t>
            </a:r>
            <a:endParaRPr lang="en-US" sz="22000" dirty="0"/>
          </a:p>
        </p:txBody>
      </p:sp>
      <p:sp>
        <p:nvSpPr>
          <p:cNvPr id="6" name="Shape 4"/>
          <p:cNvSpPr/>
          <p:nvPr/>
        </p:nvSpPr>
        <p:spPr>
          <a:xfrm>
            <a:off x="640080" y="4937760"/>
            <a:ext cx="365760" cy="10973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multi-tenant de marcações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55321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Cabeleireiros · Estética · Wellness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0" y="6446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IADE  ·  L-IG  ·  4.º Semestre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0" y="713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· Maio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457200" cy="457200"/>
          </a:xfrm>
          <a:prstGeom prst="ellipse">
            <a:avLst/>
          </a:prstGeom>
          <a:ln w="10160">
            <a:solidFill>
              <a:srgbClr val="8FA6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80160" y="713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0" y="640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8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"Quem ainda gosta de</a:t>
            </a:r>
            <a:endParaRPr lang="en-US" sz="8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8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ligar para marcar?"</a:t>
            </a:r>
            <a:endParaRPr lang="en-US" sz="8800" dirty="0"/>
          </a:p>
        </p:txBody>
      </p:sp>
      <p:sp>
        <p:nvSpPr>
          <p:cNvPr id="7" name="Shape 5"/>
          <p:cNvSpPr/>
          <p:nvPr/>
        </p:nvSpPr>
        <p:spPr>
          <a:xfrm>
            <a:off x="822960" y="5440680"/>
            <a:ext cx="365760" cy="10973"/>
          </a:xfrm>
          <a:prstGeom prst="rect">
            <a:avLst/>
          </a:prstGeom>
          <a:solidFill>
            <a:srgbClr val="B89677"/>
          </a:solidFill>
          <a:ln w="12700">
            <a:solidFill>
              <a:srgbClr val="B896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pergunta que abre cada conversa com um salão.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18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02   ·   O PROBLEMA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maneiras de</a:t>
            </a:r>
            <a:endParaRPr lang="en-US" sz="5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6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perder clientes hoje.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640080" y="3474720"/>
            <a:ext cx="2606040" cy="10973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39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durante o serviço.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está em cadeira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espera. Quem liga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desiste.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29000" y="3474720"/>
            <a:ext cx="2606040" cy="10973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3639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4023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Caderno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29000" y="470916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Rasura, rabisca, perde.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pessoas marcadas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mesma hora —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já não há saída.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3474720"/>
            <a:ext cx="2606040" cy="10973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3639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4023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17920" y="470916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foi o último cliente?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voltaram este mês?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sabe.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se mede.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006840" y="3474720"/>
            <a:ext cx="2606040" cy="10973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3639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06840" y="4023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Fidelização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006840" y="470916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pontos, sem desconto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aniversário, sem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referenciação. O cliente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onde lhe lembrar.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18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457200" cy="457200"/>
          </a:xfrm>
          <a:prstGeom prst="ellipse">
            <a:avLst/>
          </a:prstGeom>
          <a:ln w="10160">
            <a:solidFill>
              <a:srgbClr val="8FA6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0" y="713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 SOLUÇÃO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972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It.</a:t>
            </a:r>
            <a:endParaRPr lang="en-US" sz="24000" dirty="0"/>
          </a:p>
        </p:txBody>
      </p:sp>
      <p:sp>
        <p:nvSpPr>
          <p:cNvPr id="6" name="Shape 4"/>
          <p:cNvSpPr/>
          <p:nvPr/>
        </p:nvSpPr>
        <p:spPr>
          <a:xfrm>
            <a:off x="640080" y="5120640"/>
            <a:ext cx="365760" cy="10973"/>
          </a:xfrm>
          <a:prstGeom prst="rect">
            <a:avLst/>
          </a:prstGeom>
          <a:solidFill>
            <a:srgbClr val="B89677"/>
          </a:solidFill>
          <a:ln w="12700">
            <a:solidFill>
              <a:srgbClr val="B896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plataforma. Três portais. Uma experiência.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marca. Equipa serve. Gestor mede.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18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04   ·   ARQUITETURA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portais.</a:t>
            </a:r>
            <a:endParaRPr lang="en-US" sz="5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6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base de dados.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525780" y="3200400"/>
            <a:ext cx="3611880" cy="73152"/>
          </a:xfrm>
          <a:prstGeom prst="rect">
            <a:avLst/>
          </a:prstGeom>
          <a:solidFill>
            <a:srgbClr val="4F5938"/>
          </a:solidFill>
          <a:ln w="12700">
            <a:solidFill>
              <a:srgbClr val="4F59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5780" y="3273552"/>
            <a:ext cx="3611880" cy="2926080"/>
          </a:xfrm>
          <a:prstGeom prst="rect">
            <a:avLst/>
          </a:prstGeom>
          <a:solidFill>
            <a:srgbClr val="ECE6D5"/>
          </a:solidFill>
          <a:ln w="6350">
            <a:solidFill>
              <a:srgbClr val="DDD4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4F5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0100" y="3794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00100" y="44348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Marcações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0100" y="48920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5 passos · ~90s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Sem conta ou com conta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Verificação de slots em tempo real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74820" y="3200400"/>
            <a:ext cx="3611880" cy="73152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4820" y="3273552"/>
            <a:ext cx="3611880" cy="2926080"/>
          </a:xfrm>
          <a:prstGeom prst="rect">
            <a:avLst/>
          </a:prstGeom>
          <a:solidFill>
            <a:srgbClr val="ECE6D5"/>
          </a:solidFill>
          <a:ln w="6350">
            <a:solidFill>
              <a:srgbClr val="DDD4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914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49140" y="3794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/staff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49140" y="44348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49140" y="48920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Marcações do dia em tempo real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Confirmar · Pagar · Cancelar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Não compareceu  →  −5 pts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23860" y="3200400"/>
            <a:ext cx="3611880" cy="73152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23860" y="3273552"/>
            <a:ext cx="3611880" cy="2926080"/>
          </a:xfrm>
          <a:prstGeom prst="rect">
            <a:avLst/>
          </a:prstGeom>
          <a:solidFill>
            <a:srgbClr val="ECE6D5"/>
          </a:solidFill>
          <a:ln w="6350">
            <a:solidFill>
              <a:srgbClr val="DDD4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818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98180" y="3794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298180" y="44348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98180" y="48920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Dashboard, estatísticas, CSV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Equipa, serviços, promoções, galeria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Pesquisa global  ⌘K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6400800"/>
            <a:ext cx="10972800" cy="10973"/>
          </a:xfrm>
          <a:prstGeom prst="rect">
            <a:avLst/>
          </a:prstGeom>
          <a:solidFill>
            <a:srgbClr val="DDD4C2"/>
          </a:solidFill>
          <a:ln w="12700">
            <a:solidFill>
              <a:srgbClr val="DDD4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site institucional do salão (zen-organic-pt.web.app)  ·  mesma Firestore  ·  mesma identidade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18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05   ·   BASE DE DADOS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Firestore.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por salão.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40080" y="3108960"/>
            <a:ext cx="6583680" cy="32004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108960"/>
            <a:ext cx="6583680" cy="365760"/>
          </a:xfrm>
          <a:prstGeom prst="rect">
            <a:avLst/>
          </a:prstGeom>
          <a:solidFill>
            <a:srgbClr val="2A2724"/>
          </a:solidFill>
          <a:ln w="12700">
            <a:solidFill>
              <a:srgbClr val="2A27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3227832"/>
            <a:ext cx="137160" cy="13716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3227832"/>
            <a:ext cx="137160" cy="13716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2144" y="3227832"/>
            <a:ext cx="137160" cy="13716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firestore-schema.json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6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salons 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803904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{salonId} /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9959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name, primaryColor, adminUid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187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loyaltyVisits, pointsPerVisit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379976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teamPasswordHash (SHA-256)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764024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 config / schedule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956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 services / {id}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14807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 staff / {id}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5340096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 clients / {uid}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5321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 bookings / {id}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5724144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 promotions / {id}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591616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 site_gallery / {id}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610819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site_partners / {id}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0" y="3017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26680" y="3017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26680" y="33101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salão é 1 doc com sub-coleções. Adicionar um salão novo é correr o setup — zero migração.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8080" y="3931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2668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Sub-coleções nomeadas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26680" y="42245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staff, clients, bookings — uma só fonte de verdade. O site público lê do mesmo sítio.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98080" y="4846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726680" y="4846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identificado por UID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26680" y="51389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clients/{uid} usa o Firebase Auth UID. Lookup direto sem query, regras simples.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98080" y="5760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726680" y="5760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como YYYY-MM-DD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26680" y="60533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em vez de timestamp. Queries triviais por dia, sem problemas de fuso horário.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18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06   ·   FLUXO DO CLIENTE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passos.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90 segundos.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996696" y="3584448"/>
            <a:ext cx="10168128" cy="18288"/>
          </a:xfrm>
          <a:prstGeom prst="rect">
            <a:avLst/>
          </a:prstGeom>
          <a:solidFill>
            <a:srgbClr val="DDD4C2"/>
          </a:solidFill>
          <a:ln w="12700">
            <a:solidFill>
              <a:srgbClr val="DDD4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" y="3200400"/>
            <a:ext cx="777240" cy="777240"/>
          </a:xfrm>
          <a:prstGeom prst="ellipse">
            <a:avLst/>
          </a:prstGeom>
          <a:solidFill>
            <a:srgbClr val="4F5938"/>
          </a:solidFill>
          <a:ln w="12700">
            <a:solidFill>
              <a:srgbClr val="4F59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93776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93776" y="46177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editorial.</a:t>
            </a:r>
            <a:endParaRPr lang="en-US" sz="11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Pacotes com poupança.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3200400"/>
            <a:ext cx="777240" cy="777240"/>
          </a:xfrm>
          <a:prstGeom prst="ellipse">
            <a:avLst/>
          </a:prstGeom>
          <a:solidFill>
            <a:srgbClr val="4F5938"/>
          </a:solidFill>
          <a:ln w="12700">
            <a:solidFill>
              <a:srgbClr val="4F59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61488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61488" y="46177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pessoa</a:t>
            </a:r>
            <a:endParaRPr lang="en-US" sz="11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'sem preferência'.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96712" y="3200400"/>
            <a:ext cx="777240" cy="777240"/>
          </a:xfrm>
          <a:prstGeom prst="ellipse">
            <a:avLst/>
          </a:prstGeom>
          <a:solidFill>
            <a:srgbClr val="4F5938"/>
          </a:solidFill>
          <a:ln w="12700">
            <a:solidFill>
              <a:srgbClr val="4F59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96712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02920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hora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29200" y="46177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Calendário.</a:t>
            </a:r>
            <a:endParaRPr lang="en-US" sz="11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em tempo real.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64424" y="3200400"/>
            <a:ext cx="777240" cy="777240"/>
          </a:xfrm>
          <a:prstGeom prst="ellipse">
            <a:avLst/>
          </a:prstGeom>
          <a:solidFill>
            <a:srgbClr val="4F5938"/>
          </a:solidFill>
          <a:ln w="12700">
            <a:solidFill>
              <a:srgbClr val="4F59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64424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296912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96912" y="46177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email, telefone.</a:t>
            </a:r>
            <a:endParaRPr lang="en-US" sz="11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Autopreenche se logado.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232136" y="3200400"/>
            <a:ext cx="777240" cy="777240"/>
          </a:xfrm>
          <a:prstGeom prst="ellipse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32136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564624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564624" y="46177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 editorial.</a:t>
            </a:r>
            <a:endParaRPr lang="en-US" sz="11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referido.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943600"/>
            <a:ext cx="10881360" cy="594360"/>
          </a:xfrm>
          <a:prstGeom prst="rect">
            <a:avLst/>
          </a:prstGeom>
          <a:solidFill>
            <a:srgbClr val="ECE6D5"/>
          </a:solidFill>
          <a:ln w="7620">
            <a:solidFill>
              <a:srgbClr val="8B5E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9436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médio: </a:t>
            </a:r>
            <a:pPr indent="0" marL="0">
              <a:buNone/>
            </a:pPr>
            <a:r>
              <a:rPr lang="en-US" sz="1400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90 segundos</a:t>
            </a:r>
            <a:pPr indent="0" marL="0">
              <a:buNone/>
            </a:pPr>
            <a:r>
              <a:rPr lang="en-US" sz="1200" i="1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sem app, sem registo, sem dados desnecessários.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18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07   ·   FIDELIZAÇÃO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razões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voltar.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cria os incentivos sozinho. O staff só regista o pagamento — os pontos, os cupões e os códigos de referido nascem em cascata, atomicamente.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365760" cy="10973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configurável pelo gestor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005840"/>
            <a:ext cx="2697480" cy="2606040"/>
          </a:xfrm>
          <a:prstGeom prst="rect">
            <a:avLst/>
          </a:prstGeom>
          <a:solidFill>
            <a:srgbClr val="ECE6D5"/>
          </a:solidFill>
          <a:ln w="6350">
            <a:solidFill>
              <a:srgbClr val="DDD4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por visita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26974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a cada serviço pago.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caducidade.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915400" y="1005840"/>
            <a:ext cx="2697480" cy="2606040"/>
          </a:xfrm>
          <a:prstGeom prst="rect">
            <a:avLst/>
          </a:prstGeom>
          <a:solidFill>
            <a:srgbClr val="ECE6D5"/>
          </a:solidFill>
          <a:ln w="6350">
            <a:solidFill>
              <a:srgbClr val="DDD4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8972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89720" y="1783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à 5ª visita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89720" y="26974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Cupão automático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20% (configurável).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0" y="3749040"/>
            <a:ext cx="2697480" cy="2606040"/>
          </a:xfrm>
          <a:prstGeom prst="rect">
            <a:avLst/>
          </a:prstGeom>
          <a:solidFill>
            <a:srgbClr val="ECE6D5"/>
          </a:solidFill>
          <a:ln w="6350">
            <a:solidFill>
              <a:srgbClr val="DDD4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023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4526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referido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54406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por cliente.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→ ambos ganham.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15400" y="3749040"/>
            <a:ext cx="2697480" cy="2606040"/>
          </a:xfrm>
          <a:prstGeom prst="rect">
            <a:avLst/>
          </a:prstGeom>
          <a:solidFill>
            <a:srgbClr val="ECE6D5"/>
          </a:solidFill>
          <a:ln w="6350">
            <a:solidFill>
              <a:srgbClr val="DDD4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4023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89720" y="4526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de aniversário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89720" y="54406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especial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18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65760" cy="365760"/>
          </a:xfrm>
          <a:prstGeom prst="ellipse">
            <a:avLst/>
          </a:prstGeom>
          <a:ln w="10160">
            <a:solidFill>
              <a:srgbClr val="8FA6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i="1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10972800" y="713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PORTAL DA EQUIPA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</a:t>
            </a:r>
            <a:endParaRPr lang="en-US" sz="8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inteiro</a:t>
            </a:r>
            <a:endParaRPr lang="en-US" sz="8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vista.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640080" y="5120640"/>
            <a:ext cx="365760" cy="10973"/>
          </a:xfrm>
          <a:prstGeom prst="rect">
            <a:avLst/>
          </a:prstGeom>
          <a:solidFill>
            <a:srgbClr val="B89677"/>
          </a:solidFill>
          <a:ln w="12700">
            <a:solidFill>
              <a:srgbClr val="B896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257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aprendizagem. Equipa entra com password partilhada (SHA-256 hash). Em tempo real via onSnapshot, sem refresh.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486400" cy="4572000"/>
          </a:xfrm>
          <a:prstGeom prst="rect">
            <a:avLst/>
          </a:prstGeom>
          <a:solidFill>
            <a:srgbClr val="1A1814"/>
          </a:solidFill>
          <a:ln w="7620">
            <a:solidFill>
              <a:srgbClr val="2A2724"/>
            </a:solidFill>
            <a:prstDash val="solid"/>
          </a:ln>
          <a:effectLst>
            <a:outerShdw sx="100000" sy="100000" kx="0" ky="0" algn="bl" rotWithShape="0" blurRad="304800" dist="1016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0" y="1463040"/>
            <a:ext cx="5486400" cy="411480"/>
          </a:xfrm>
          <a:prstGeom prst="rect">
            <a:avLst/>
          </a:prstGeom>
          <a:solidFill>
            <a:srgbClr val="2A2724"/>
          </a:solidFill>
          <a:ln w="12700">
            <a:solidFill>
              <a:srgbClr val="2A27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da equipa  ·  Hoje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0" y="1609344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0996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vivo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309360" y="2057400"/>
            <a:ext cx="1177290" cy="914400"/>
          </a:xfrm>
          <a:prstGeom prst="rect">
            <a:avLst/>
          </a:prstGeom>
          <a:solidFill>
            <a:srgbClr val="0F0F0E"/>
          </a:solidFill>
          <a:ln w="5080">
            <a:solidFill>
              <a:srgbClr val="2A27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03120"/>
            <a:ext cx="1177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2651760"/>
            <a:ext cx="1177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marcações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623810" y="2057400"/>
            <a:ext cx="1177290" cy="914400"/>
          </a:xfrm>
          <a:prstGeom prst="rect">
            <a:avLst/>
          </a:prstGeom>
          <a:solidFill>
            <a:srgbClr val="0F0F0E"/>
          </a:solidFill>
          <a:ln w="5080">
            <a:solidFill>
              <a:srgbClr val="2A27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3810" y="2103120"/>
            <a:ext cx="1177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623810" y="2651760"/>
            <a:ext cx="1177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938260" y="2057400"/>
            <a:ext cx="1177290" cy="914400"/>
          </a:xfrm>
          <a:prstGeom prst="rect">
            <a:avLst/>
          </a:prstGeom>
          <a:solidFill>
            <a:srgbClr val="0F0F0E"/>
          </a:solidFill>
          <a:ln w="5080">
            <a:solidFill>
              <a:srgbClr val="2A27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38260" y="2103120"/>
            <a:ext cx="1177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938260" y="2651760"/>
            <a:ext cx="1177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252710" y="2057400"/>
            <a:ext cx="1177290" cy="914400"/>
          </a:xfrm>
          <a:prstGeom prst="rect">
            <a:avLst/>
          </a:prstGeom>
          <a:solidFill>
            <a:srgbClr val="0F0F0E"/>
          </a:solidFill>
          <a:ln w="5080">
            <a:solidFill>
              <a:srgbClr val="2A27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52710" y="2103120"/>
            <a:ext cx="1177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240€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252710" y="2651760"/>
            <a:ext cx="1177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faturação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55080" y="3246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0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Silva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+ Brushing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424160" y="3337560"/>
            <a:ext cx="1005840" cy="274320"/>
          </a:xfrm>
          <a:prstGeom prst="rect">
            <a:avLst/>
          </a:prstGeom>
          <a:solidFill>
            <a:srgbClr val="1A1814">
              <a:alpha val="70000"/>
            </a:srgbClr>
          </a:solidFill>
          <a:ln w="6350">
            <a:solidFill>
              <a:srgbClr val="8FA6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24160" y="3337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3840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32320" y="3840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Costa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9536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Coloração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424160" y="3931920"/>
            <a:ext cx="1005840" cy="274320"/>
          </a:xfrm>
          <a:prstGeom prst="rect">
            <a:avLst/>
          </a:prstGeom>
          <a:solidFill>
            <a:srgbClr val="1A1814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24160" y="3931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55080" y="4434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32320" y="4434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Marta Pinto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95360" y="4434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424160" y="4526280"/>
            <a:ext cx="1005840" cy="274320"/>
          </a:xfrm>
          <a:prstGeom prst="rect">
            <a:avLst/>
          </a:prstGeom>
          <a:solidFill>
            <a:srgbClr val="1A1814">
              <a:alpha val="70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24160" y="4526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55080" y="5029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132320" y="5029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R.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95360" y="5029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Masculino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424160" y="5120640"/>
            <a:ext cx="1005840" cy="274320"/>
          </a:xfrm>
          <a:prstGeom prst="rect">
            <a:avLst/>
          </a:prstGeom>
          <a:solidFill>
            <a:srgbClr val="1A1814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24160" y="5120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18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65760" cy="365760"/>
          </a:xfrm>
          <a:prstGeom prst="ellipse">
            <a:avLst/>
          </a:prstGeom>
          <a:ln w="10160">
            <a:solidFill>
              <a:srgbClr val="8FA6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i="1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10972800" y="713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ADMIN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números. Em tempo real. O resto está a um clique.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" y="2743200"/>
            <a:ext cx="2148840" cy="1645920"/>
          </a:xfrm>
          <a:prstGeom prst="rect">
            <a:avLst/>
          </a:prstGeom>
          <a:solidFill>
            <a:srgbClr val="1A1814"/>
          </a:solidFill>
          <a:ln w="6350">
            <a:solidFill>
              <a:srgbClr val="2A27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62940" y="3931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MARCAÇÕES HOJE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20340" y="2743200"/>
            <a:ext cx="2148840" cy="1645920"/>
          </a:xfrm>
          <a:prstGeom prst="rect">
            <a:avLst/>
          </a:prstGeom>
          <a:solidFill>
            <a:srgbClr val="1A1814"/>
          </a:solidFill>
          <a:ln w="6350">
            <a:solidFill>
              <a:srgbClr val="2A27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894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948940" y="3931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06340" y="2743200"/>
            <a:ext cx="2148840" cy="1645920"/>
          </a:xfrm>
          <a:prstGeom prst="rect">
            <a:avLst/>
          </a:prstGeom>
          <a:solidFill>
            <a:srgbClr val="1A1814"/>
          </a:solidFill>
          <a:ln w="6350">
            <a:solidFill>
              <a:srgbClr val="2A27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494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234940" y="3931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92340" y="2743200"/>
            <a:ext cx="2148840" cy="1645920"/>
          </a:xfrm>
          <a:prstGeom prst="rect">
            <a:avLst/>
          </a:prstGeom>
          <a:solidFill>
            <a:srgbClr val="1A1814"/>
          </a:solidFill>
          <a:ln w="6350">
            <a:solidFill>
              <a:srgbClr val="2A27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2094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B89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380€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7520940" y="3931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FATURAÇÃO HOJE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578340" y="2743200"/>
            <a:ext cx="2148840" cy="1645920"/>
          </a:xfrm>
          <a:prstGeom prst="rect">
            <a:avLst/>
          </a:prstGeom>
          <a:solidFill>
            <a:srgbClr val="1A1814"/>
          </a:solidFill>
          <a:ln w="6350">
            <a:solidFill>
              <a:srgbClr val="2A27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0694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806940" y="3931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CLIENTES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4937760"/>
            <a:ext cx="3444240" cy="10973"/>
          </a:xfrm>
          <a:prstGeom prst="rect">
            <a:avLst/>
          </a:prstGeom>
          <a:solidFill>
            <a:srgbClr val="2A2724"/>
          </a:solidFill>
          <a:ln w="12700">
            <a:solidFill>
              <a:srgbClr val="2A27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120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512064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global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5440680"/>
            <a:ext cx="289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 entre painéis, encontra clientes em ms.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58640" y="4937760"/>
            <a:ext cx="3444240" cy="10973"/>
          </a:xfrm>
          <a:prstGeom prst="rect">
            <a:avLst/>
          </a:prstGeom>
          <a:solidFill>
            <a:srgbClr val="2A2724"/>
          </a:solidFill>
          <a:ln w="12700">
            <a:solidFill>
              <a:srgbClr val="2A27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58640" y="5120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07280" y="512064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dia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07280" y="5440680"/>
            <a:ext cx="289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visual, eventos coloridos por estado.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77200" y="4937760"/>
            <a:ext cx="3444240" cy="10973"/>
          </a:xfrm>
          <a:prstGeom prst="rect">
            <a:avLst/>
          </a:prstGeom>
          <a:solidFill>
            <a:srgbClr val="2A2724"/>
          </a:solidFill>
          <a:ln w="12700">
            <a:solidFill>
              <a:srgbClr val="2A27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77200" y="5120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25840" y="512064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CSV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25840" y="5440680"/>
            <a:ext cx="289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Marcações e clientes — para Excel num clique.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18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10   ·   CASO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cabeleireiro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Telheiras.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Construímos o caso real 'Zen Organic Hair Concept' — um atelier eco-conscious — desde o conceito de marca até à implementação técnica.</a:t>
            </a:r>
            <a:endParaRPr lang="en-US" sz="1350" dirty="0"/>
          </a:p>
          <a:p>
            <a:pPr indent="0" marL="0">
              <a:lnSpc>
                <a:spcPct val="160000"/>
              </a:lnSpc>
              <a:buNone/>
            </a:pPr>
            <a:endParaRPr lang="en-US" sz="13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3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sites em produção, integrados via Firestore: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zen-organic-pt.web.app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público — apothecary editorial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5074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bookit-51575.web.app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5303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marcações multi-tenant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5577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5577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 e fotos sincronizadas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lê do Firestore — uma fonte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66560" y="1005840"/>
            <a:ext cx="5029200" cy="5303520"/>
          </a:xfrm>
          <a:prstGeom prst="rect">
            <a:avLst/>
          </a:prstGeom>
          <a:solidFill>
            <a:srgbClr val="E5DDC8"/>
          </a:solidFill>
          <a:ln w="7620">
            <a:solidFill>
              <a:srgbClr val="DDD4C2"/>
            </a:solidFill>
            <a:prstDash val="solid"/>
          </a:ln>
          <a:effectLst>
            <a:outerShdw sx="100000" sy="100000" kx="0" ky="0" algn="bl" rotWithShape="0" blurRad="304800" dist="1016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66560" y="1005840"/>
            <a:ext cx="5029200" cy="457200"/>
          </a:xfrm>
          <a:prstGeom prst="rect">
            <a:avLst/>
          </a:prstGeom>
          <a:solidFill>
            <a:srgbClr val="ECE6D5"/>
          </a:solidFill>
          <a:ln w="12700">
            <a:solidFill>
              <a:srgbClr val="DDD4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152144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1152144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60920" y="1152144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zen-organic-pt.web.app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132320" y="1828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· 2018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0" y="224028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Tendemos ao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 cabelo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cuidamos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um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7132320" y="4069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jardim.</a:t>
            </a:r>
            <a:endParaRPr lang="en-US" sz="3800" dirty="0"/>
          </a:p>
        </p:txBody>
      </p:sp>
      <p:sp>
        <p:nvSpPr>
          <p:cNvPr id="23" name="Shape 21"/>
          <p:cNvSpPr/>
          <p:nvPr/>
        </p:nvSpPr>
        <p:spPr>
          <a:xfrm>
            <a:off x="7132320" y="5029200"/>
            <a:ext cx="1645920" cy="4114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5029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visita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503152" y="1920240"/>
            <a:ext cx="0" cy="1463040"/>
          </a:xfrm>
          <a:prstGeom prst="line">
            <a:avLst/>
          </a:prstGeom>
          <a:noFill/>
          <a:ln w="7620">
            <a:solidFill>
              <a:srgbClr val="4F5938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-1800000">
            <a:off x="11457432" y="2109216"/>
            <a:ext cx="307238" cy="164592"/>
          </a:xfrm>
          <a:prstGeom prst="ellipse">
            <a:avLst/>
          </a:prstGeom>
          <a:solidFill>
            <a:srgbClr val="4F5938">
              <a:alpha val="50000"/>
            </a:srgbClr>
          </a:solidFill>
          <a:ln w="12700">
            <a:solidFill>
              <a:srgbClr val="4F59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800000">
            <a:off x="11548872" y="2353056"/>
            <a:ext cx="307238" cy="164592"/>
          </a:xfrm>
          <a:prstGeom prst="ellipse">
            <a:avLst/>
          </a:prstGeom>
          <a:solidFill>
            <a:srgbClr val="4F5938">
              <a:alpha val="50000"/>
            </a:srgbClr>
          </a:solidFill>
          <a:ln w="12700">
            <a:solidFill>
              <a:srgbClr val="4F59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-1800000">
            <a:off x="11457432" y="2596896"/>
            <a:ext cx="307238" cy="164592"/>
          </a:xfrm>
          <a:prstGeom prst="ellipse">
            <a:avLst/>
          </a:prstGeom>
          <a:solidFill>
            <a:srgbClr val="4F5938">
              <a:alpha val="50000"/>
            </a:srgbClr>
          </a:solidFill>
          <a:ln w="12700">
            <a:solidFill>
              <a:srgbClr val="4F59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800000">
            <a:off x="11548872" y="2840736"/>
            <a:ext cx="307238" cy="164592"/>
          </a:xfrm>
          <a:prstGeom prst="ellipse">
            <a:avLst/>
          </a:prstGeom>
          <a:solidFill>
            <a:srgbClr val="4F5938">
              <a:alpha val="50000"/>
            </a:srgbClr>
          </a:solidFill>
          <a:ln w="12700">
            <a:solidFill>
              <a:srgbClr val="4F59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-1800000">
            <a:off x="11457432" y="3084576"/>
            <a:ext cx="307238" cy="164592"/>
          </a:xfrm>
          <a:prstGeom prst="ellipse">
            <a:avLst/>
          </a:prstGeom>
          <a:solidFill>
            <a:srgbClr val="4F5938">
              <a:alpha val="50000"/>
            </a:srgbClr>
          </a:solidFill>
          <a:ln w="12700">
            <a:solidFill>
              <a:srgbClr val="4F59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18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65760" cy="365760"/>
          </a:xfrm>
          <a:prstGeom prst="ellipse">
            <a:avLst/>
          </a:prstGeom>
          <a:ln w="10160">
            <a:solidFill>
              <a:srgbClr val="8FA6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i="1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10972800" y="713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4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build step.</a:t>
            </a:r>
            <a:endParaRPr lang="en-US" sz="6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4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framework.</a:t>
            </a:r>
            <a:endParaRPr lang="en-US" sz="6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4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standards.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10972800" cy="10973"/>
          </a:xfrm>
          <a:prstGeom prst="rect">
            <a:avLst/>
          </a:prstGeom>
          <a:solidFill>
            <a:srgbClr val="2A2724"/>
          </a:solidFill>
          <a:ln w="12700">
            <a:solidFill>
              <a:srgbClr val="2A27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187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94560" y="4187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JavaScript (ES Modules)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0" y="4187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dependências no browser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4498848"/>
            <a:ext cx="10972800" cy="10973"/>
          </a:xfrm>
          <a:prstGeom prst="rect">
            <a:avLst/>
          </a:prstGeom>
          <a:solidFill>
            <a:srgbClr val="2A2724"/>
          </a:solidFill>
          <a:ln w="12700">
            <a:solidFill>
              <a:srgbClr val="2A27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572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94560" y="4572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próprio · Inter + Cormorant Garamond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semânticos · dark mode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4882896"/>
            <a:ext cx="10972800" cy="10973"/>
          </a:xfrm>
          <a:prstGeom prst="rect">
            <a:avLst/>
          </a:prstGeom>
          <a:solidFill>
            <a:srgbClr val="2A2724"/>
          </a:solidFill>
          <a:ln w="12700">
            <a:solidFill>
              <a:srgbClr val="2A27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956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94560" y="4956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· Firestore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0" y="4956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· regras servidor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5266944"/>
            <a:ext cx="10972800" cy="10973"/>
          </a:xfrm>
          <a:prstGeom prst="rect">
            <a:avLst/>
          </a:prstGeom>
          <a:solidFill>
            <a:srgbClr val="2A2724"/>
          </a:solidFill>
          <a:ln w="12700">
            <a:solidFill>
              <a:srgbClr val="2A27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3400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94560" y="53400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 · 2 sites no mesmo projeto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0" y="5340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manual via CLI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5650992"/>
            <a:ext cx="10972800" cy="10973"/>
          </a:xfrm>
          <a:prstGeom prst="rect">
            <a:avLst/>
          </a:prstGeom>
          <a:solidFill>
            <a:srgbClr val="2A2724"/>
          </a:solidFill>
          <a:ln w="12700">
            <a:solidFill>
              <a:srgbClr val="2A27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7241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94560" y="57241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runTransaction · writeBatch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0" y="5724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+ pontos atómicos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6035040"/>
            <a:ext cx="10972800" cy="10973"/>
          </a:xfrm>
          <a:prstGeom prst="rect">
            <a:avLst/>
          </a:prstGeom>
          <a:solidFill>
            <a:srgbClr val="2A2724"/>
          </a:solidFill>
          <a:ln w="12700">
            <a:solidFill>
              <a:srgbClr val="2A27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108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94560" y="61081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onSnapshot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0" y="6108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Marcações sincronizam sem refresh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18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12   ·  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apothecary.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Aesop · Grown Alchemist · Tatcha · Kinfolk.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661160" cy="1097280"/>
          </a:xfrm>
          <a:prstGeom prst="rect">
            <a:avLst/>
          </a:prstGeom>
          <a:solidFill>
            <a:srgbClr val="F2EDE0"/>
          </a:solidFill>
          <a:ln w="5080">
            <a:solidFill>
              <a:srgbClr val="DDD4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31920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warm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#F2EDE0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84120" y="2743200"/>
            <a:ext cx="1661160" cy="1097280"/>
          </a:xfrm>
          <a:prstGeom prst="rect">
            <a:avLst/>
          </a:prstGeom>
          <a:solidFill>
            <a:srgbClr val="4F5938"/>
          </a:solidFill>
          <a:ln w="5080">
            <a:solidFill>
              <a:srgbClr val="DDD4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84120" y="3931920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moss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84120" y="4160520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#4F5938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28160" y="2743200"/>
            <a:ext cx="1661160" cy="1097280"/>
          </a:xfrm>
          <a:prstGeom prst="rect">
            <a:avLst/>
          </a:prstGeom>
          <a:solidFill>
            <a:srgbClr val="8B5E3C"/>
          </a:solidFill>
          <a:ln w="5080">
            <a:solidFill>
              <a:srgbClr val="DDD4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8160" y="3931920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Terracotta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28160" y="4160520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#8B5E3C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2743200"/>
            <a:ext cx="1661160" cy="1097280"/>
          </a:xfrm>
          <a:prstGeom prst="rect">
            <a:avLst/>
          </a:prstGeom>
          <a:solidFill>
            <a:srgbClr val="1A1814"/>
          </a:solidFill>
          <a:ln w="5080">
            <a:solidFill>
              <a:srgbClr val="DDD4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3931920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4160520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#1A1814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16240" y="2743200"/>
            <a:ext cx="1661160" cy="1097280"/>
          </a:xfrm>
          <a:prstGeom prst="rect">
            <a:avLst/>
          </a:prstGeom>
          <a:solidFill>
            <a:srgbClr val="ECE6D5"/>
          </a:solidFill>
          <a:ln w="5080">
            <a:solidFill>
              <a:srgbClr val="DDD4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16240" y="3931920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alt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16240" y="4160520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#ECE6D5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860280" y="2743200"/>
            <a:ext cx="1661160" cy="1097280"/>
          </a:xfrm>
          <a:prstGeom prst="rect">
            <a:avLst/>
          </a:prstGeom>
          <a:solidFill>
            <a:srgbClr val="16A34A"/>
          </a:solidFill>
          <a:ln w="5080">
            <a:solidFill>
              <a:srgbClr val="DDD4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60280" y="3931920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60280" y="4160520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#16A34A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972800" cy="10973"/>
          </a:xfrm>
          <a:prstGeom prst="rect">
            <a:avLst/>
          </a:prstGeom>
          <a:solidFill>
            <a:srgbClr val="DDD4C2"/>
          </a:solidFill>
          <a:ln w="12700">
            <a:solidFill>
              <a:srgbClr val="DDD4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0749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0000" dirty="0"/>
          </a:p>
        </p:txBody>
      </p:sp>
      <p:sp>
        <p:nvSpPr>
          <p:cNvPr id="25" name="Text 23"/>
          <p:cNvSpPr/>
          <p:nvPr/>
        </p:nvSpPr>
        <p:spPr>
          <a:xfrm>
            <a:off x="2560320" y="5212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Cormorant Garamond italic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560320" y="5623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títulos editoriais. Carácter forte, restraint.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50749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8000" dirty="0"/>
          </a:p>
        </p:txBody>
      </p:sp>
      <p:sp>
        <p:nvSpPr>
          <p:cNvPr id="28" name="Text 26"/>
          <p:cNvSpPr/>
          <p:nvPr/>
        </p:nvSpPr>
        <p:spPr>
          <a:xfrm>
            <a:off x="8686800" y="5212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686800" y="5623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corpo e UI. Legível em qualquer tamanho.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18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65760" cy="365760"/>
          </a:xfrm>
          <a:prstGeom prst="ellipse">
            <a:avLst/>
          </a:prstGeom>
          <a:ln w="10160">
            <a:solidFill>
              <a:srgbClr val="8FA6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i="1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10972800" y="713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EM NÚMEROS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i="1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6 411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594360" y="3749040"/>
            <a:ext cx="914400" cy="10973"/>
          </a:xfrm>
          <a:prstGeom prst="rect">
            <a:avLst/>
          </a:prstGeom>
          <a:solidFill>
            <a:srgbClr val="B89677"/>
          </a:solidFill>
          <a:ln w="12700">
            <a:solidFill>
              <a:srgbClr val="B896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886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DE CÓDIGO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0" y="1463040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12000" dirty="0"/>
          </a:p>
        </p:txBody>
      </p:sp>
      <p:sp>
        <p:nvSpPr>
          <p:cNvPr id="10" name="Shape 8"/>
          <p:cNvSpPr/>
          <p:nvPr/>
        </p:nvSpPr>
        <p:spPr>
          <a:xfrm>
            <a:off x="3383280" y="3749040"/>
            <a:ext cx="914400" cy="10973"/>
          </a:xfrm>
          <a:prstGeom prst="rect">
            <a:avLst/>
          </a:prstGeom>
          <a:solidFill>
            <a:srgbClr val="B89677"/>
          </a:solidFill>
          <a:ln w="12700">
            <a:solidFill>
              <a:srgbClr val="B896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886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FICHEIROS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Páginas, módulos, docs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72200" y="1463040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0" dirty="0"/>
          </a:p>
        </p:txBody>
      </p:sp>
      <p:sp>
        <p:nvSpPr>
          <p:cNvPr id="14" name="Shape 12"/>
          <p:cNvSpPr/>
          <p:nvPr/>
        </p:nvSpPr>
        <p:spPr>
          <a:xfrm>
            <a:off x="6172200" y="3749040"/>
            <a:ext cx="914400" cy="10973"/>
          </a:xfrm>
          <a:prstGeom prst="rect">
            <a:avLst/>
          </a:prstGeom>
          <a:solidFill>
            <a:srgbClr val="B89677"/>
          </a:solidFill>
          <a:ln w="12700">
            <a:solidFill>
              <a:srgbClr val="B896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3886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WEB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72200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equipa, admin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0" y="1463040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0" dirty="0"/>
          </a:p>
        </p:txBody>
      </p:sp>
      <p:sp>
        <p:nvSpPr>
          <p:cNvPr id="18" name="Shape 16"/>
          <p:cNvSpPr/>
          <p:nvPr/>
        </p:nvSpPr>
        <p:spPr>
          <a:xfrm>
            <a:off x="8961120" y="3749040"/>
            <a:ext cx="914400" cy="10973"/>
          </a:xfrm>
          <a:prstGeom prst="rect">
            <a:avLst/>
          </a:prstGeom>
          <a:solidFill>
            <a:srgbClr val="B89677"/>
          </a:solidFill>
          <a:ln w="12700">
            <a:solidFill>
              <a:srgbClr val="B896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3886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EM PRODUÇÃO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61120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BookIt + Zen Organic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10972800" cy="10973"/>
          </a:xfrm>
          <a:prstGeom prst="rect">
            <a:avLst/>
          </a:prstGeom>
          <a:solidFill>
            <a:srgbClr val="2A2724"/>
          </a:solidFill>
          <a:ln w="12700">
            <a:solidFill>
              <a:srgbClr val="2A27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issues encontrados na auditoria  ·  19 bugs corrigidos  ·  fotos como base64 em Firestore  ·  cross-site sync em real-time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18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14   ·   O QUE VEM A SEGUIR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Roadmap.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914400" y="3657600"/>
            <a:ext cx="10332720" cy="10973"/>
          </a:xfrm>
          <a:prstGeom prst="rect">
            <a:avLst/>
          </a:prstGeom>
          <a:solidFill>
            <a:srgbClr val="DDD4C2"/>
          </a:solidFill>
          <a:ln w="12700">
            <a:solidFill>
              <a:srgbClr val="DDD4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41398" y="3502152"/>
            <a:ext cx="329184" cy="329184"/>
          </a:xfrm>
          <a:prstGeom prst="ellipse">
            <a:avLst/>
          </a:prstGeom>
          <a:solidFill>
            <a:srgbClr val="8B5E3C"/>
          </a:solidFill>
          <a:ln w="30480">
            <a:solidFill>
              <a:srgbClr val="8B5E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439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4390" y="4023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produção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4390" y="4572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que demonstramos hoje, online.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24578" y="3502152"/>
            <a:ext cx="329184" cy="329184"/>
          </a:xfrm>
          <a:prstGeom prst="ellipse">
            <a:avLst/>
          </a:prstGeom>
          <a:solidFill>
            <a:srgbClr val="F2EDE0"/>
          </a:solidFill>
          <a:ln w="30480">
            <a:solidFill>
              <a:srgbClr val="8B5E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757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17570" y="4023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online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17570" y="4572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+ MB Way no portal cliente.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07758" y="3502152"/>
            <a:ext cx="329184" cy="329184"/>
          </a:xfrm>
          <a:prstGeom prst="ellipse">
            <a:avLst/>
          </a:prstGeom>
          <a:solidFill>
            <a:srgbClr val="F2EDE0"/>
          </a:solidFill>
          <a:ln w="30480">
            <a:solidFill>
              <a:srgbClr val="8B5E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0075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00750" y="4023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00750" y="4572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SMS lembrete, Web Push staff.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790938" y="3502152"/>
            <a:ext cx="329184" cy="329184"/>
          </a:xfrm>
          <a:prstGeom prst="ellipse">
            <a:avLst/>
          </a:prstGeom>
          <a:solidFill>
            <a:srgbClr val="F2EDE0"/>
          </a:solidFill>
          <a:ln w="30480">
            <a:solidFill>
              <a:srgbClr val="8B5E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8393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83930" y="4023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Multi-admin &amp; API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83930" y="4572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administradores. API pública REST.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6126480"/>
            <a:ext cx="10972800" cy="10973"/>
          </a:xfrm>
          <a:prstGeom prst="rect">
            <a:avLst/>
          </a:prstGeom>
          <a:solidFill>
            <a:srgbClr val="DDD4C2"/>
          </a:solidFill>
          <a:ln w="12700">
            <a:solidFill>
              <a:srgbClr val="DDD4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 conhecida e documentada: produção pede regras Firestore mais restritas (Cloud Function para slot-availability)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18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65760" cy="365760"/>
          </a:xfrm>
          <a:prstGeom prst="ellipse">
            <a:avLst/>
          </a:prstGeom>
          <a:ln w="10160">
            <a:solidFill>
              <a:srgbClr val="8FA6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i="1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10972800" y="713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AO VIVO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4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isto</a:t>
            </a:r>
            <a:endParaRPr lang="en-US" sz="8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4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online.</a:t>
            </a:r>
            <a:endParaRPr lang="en-US" sz="8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4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Agora.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9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PÚBLICO ZEN ORGANIC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20640" y="4572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zen-organic-pt.web.app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983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9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4983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MARCAÇÕES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0" y="4983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bookit-51575.web.app/?salon=demo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394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9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CLIENTE · ZEN CLUB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5394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bookit-51575.web.app/account.html?salon=demo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806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9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5806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FA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5806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bookit-51575.web.app/admin.html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E9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·  18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 ·   PRINCIPAIS DESAFIOS RESOLVIDOS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Aprendizagens.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5303520" cy="10973"/>
          </a:xfrm>
          <a:prstGeom prst="rect">
            <a:avLst/>
          </a:prstGeom>
          <a:solidFill>
            <a:srgbClr val="DDD4C2"/>
          </a:solidFill>
          <a:ln w="12700">
            <a:solidFill>
              <a:srgbClr val="DDD4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97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em multi-tab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Firestore podem disparar a sub-criar duplicados. Resolvido com runTransaction.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474720"/>
            <a:ext cx="5303520" cy="10973"/>
          </a:xfrm>
          <a:prstGeom prst="rect">
            <a:avLst/>
          </a:prstGeom>
          <a:solidFill>
            <a:srgbClr val="DDD4C2"/>
          </a:solidFill>
          <a:ln w="12700">
            <a:solidFill>
              <a:srgbClr val="DDD4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11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Firestore vs slot-collision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Anónimos precisam de ler bookings para evitar double-booking. Public read, sem PII visível.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389120"/>
            <a:ext cx="5303520" cy="10973"/>
          </a:xfrm>
          <a:prstGeom prst="rect">
            <a:avLst/>
          </a:prstGeom>
          <a:solidFill>
            <a:srgbClr val="DDD4C2"/>
          </a:solidFill>
          <a:ln w="12700">
            <a:solidFill>
              <a:srgbClr val="DDD4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526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atómico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892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+ pontos + cupão num só commit. Se falhar, nada fica meio-feito.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5303520"/>
            <a:ext cx="5303520" cy="10973"/>
          </a:xfrm>
          <a:prstGeom prst="rect">
            <a:avLst/>
          </a:prstGeom>
          <a:solidFill>
            <a:srgbClr val="DDD4C2"/>
          </a:solidFill>
          <a:ln w="12700">
            <a:solidFill>
              <a:srgbClr val="DDD4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440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com 2 batches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806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Firestore não veem docs do mesmo batch. Salão primeiro, depois sub-coleções.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560320"/>
            <a:ext cx="5303520" cy="10973"/>
          </a:xfrm>
          <a:prstGeom prst="rect">
            <a:avLst/>
          </a:prstGeom>
          <a:solidFill>
            <a:srgbClr val="DDD4C2"/>
          </a:solidFill>
          <a:ln w="12700">
            <a:solidFill>
              <a:srgbClr val="DDD4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697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em Firestore (não Storage)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client-side para JPEG 400×400. ~50KB por foto — cabe nos 1MB/doc.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3474720"/>
            <a:ext cx="5303520" cy="10973"/>
          </a:xfrm>
          <a:prstGeom prst="rect">
            <a:avLst/>
          </a:prstGeom>
          <a:solidFill>
            <a:srgbClr val="DDD4C2"/>
          </a:solidFill>
          <a:ln w="12700">
            <a:solidFill>
              <a:srgbClr val="DDD4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611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sync em Firestore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3977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Zen Organic lê staff/gallery/partners do BookIt. Uma fonte de verdade.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4389120"/>
            <a:ext cx="5303520" cy="10973"/>
          </a:xfrm>
          <a:prstGeom prst="rect">
            <a:avLst/>
          </a:prstGeom>
          <a:solidFill>
            <a:srgbClr val="DDD4C2"/>
          </a:solidFill>
          <a:ln w="12700">
            <a:solidFill>
              <a:srgbClr val="DDD4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526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nav colado aberto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4892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display:flex sobrepunha [hidden]. Adicionámos selector explícito.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5303520"/>
            <a:ext cx="5303520" cy="10973"/>
          </a:xfrm>
          <a:prstGeom prst="rect">
            <a:avLst/>
          </a:prstGeom>
          <a:solidFill>
            <a:srgbClr val="DDD4C2"/>
          </a:solidFill>
          <a:ln w="12700">
            <a:solidFill>
              <a:srgbClr val="DDD4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5440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via onSnapshot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0" y="5806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 nunca dá refresh. Cliente faz booking → admin vê na hora.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·  18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92256" y="1371600"/>
            <a:ext cx="0" cy="4389120"/>
          </a:xfrm>
          <a:prstGeom prst="line">
            <a:avLst/>
          </a:prstGeom>
          <a:noFill/>
          <a:ln w="7620">
            <a:solidFill>
              <a:srgbClr val="4F5938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800000">
            <a:off x="11146536" y="2048256"/>
            <a:ext cx="921715" cy="164592"/>
          </a:xfrm>
          <a:prstGeom prst="ellipse">
            <a:avLst/>
          </a:prstGeom>
          <a:solidFill>
            <a:srgbClr val="4F5938">
              <a:alpha val="45000"/>
            </a:srgbClr>
          </a:solidFill>
          <a:ln w="12700">
            <a:solidFill>
              <a:srgbClr val="4F59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11237976" y="2779776"/>
            <a:ext cx="921715" cy="164592"/>
          </a:xfrm>
          <a:prstGeom prst="ellipse">
            <a:avLst/>
          </a:prstGeom>
          <a:solidFill>
            <a:srgbClr val="4F5938">
              <a:alpha val="45000"/>
            </a:srgbClr>
          </a:solidFill>
          <a:ln w="12700">
            <a:solidFill>
              <a:srgbClr val="4F59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800000">
            <a:off x="11146536" y="3511296"/>
            <a:ext cx="921715" cy="164592"/>
          </a:xfrm>
          <a:prstGeom prst="ellipse">
            <a:avLst/>
          </a:prstGeom>
          <a:solidFill>
            <a:srgbClr val="4F5938">
              <a:alpha val="45000"/>
            </a:srgbClr>
          </a:solidFill>
          <a:ln w="12700">
            <a:solidFill>
              <a:srgbClr val="4F59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11237976" y="4242816"/>
            <a:ext cx="921715" cy="164592"/>
          </a:xfrm>
          <a:prstGeom prst="ellipse">
            <a:avLst/>
          </a:prstGeom>
          <a:solidFill>
            <a:srgbClr val="4F5938">
              <a:alpha val="45000"/>
            </a:srgbClr>
          </a:solidFill>
          <a:ln w="12700">
            <a:solidFill>
              <a:srgbClr val="4F59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1800000">
            <a:off x="11146536" y="4974336"/>
            <a:ext cx="921715" cy="164592"/>
          </a:xfrm>
          <a:prstGeom prst="ellipse">
            <a:avLst/>
          </a:prstGeom>
          <a:solidFill>
            <a:srgbClr val="4F5938">
              <a:alpha val="45000"/>
            </a:srgbClr>
          </a:solidFill>
          <a:ln w="12700">
            <a:solidFill>
              <a:srgbClr val="4F59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640080"/>
            <a:ext cx="457200" cy="457200"/>
          </a:xfrm>
          <a:prstGeom prst="ellipse">
            <a:avLst/>
          </a:prstGeom>
          <a:ln w="10160">
            <a:solidFill>
              <a:srgbClr val="4F59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5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713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i="1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</a:t>
            </a:r>
            <a:endParaRPr lang="en-US" sz="2000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365760" cy="10973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617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640080" y="5989320"/>
            <a:ext cx="10972800" cy="10973"/>
          </a:xfrm>
          <a:prstGeom prst="rect">
            <a:avLst/>
          </a:prstGeom>
          <a:solidFill>
            <a:srgbClr val="DDD4C2"/>
          </a:solidFill>
          <a:ln w="12700">
            <a:solidFill>
              <a:srgbClr val="DDD4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61264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Guerreiro  20221080   ·   Tomás Ramos  20210834   ·   Alberto Zumbi  50036118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418320" y="6126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IADE · L-IG · 4.º Semestre · Maio 2026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·  18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IADE · Universidade Europeia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 It</dc:title>
  <dc:subject>PptxGenJS Presentation</dc:subject>
  <dc:creator>Pedro Guerreiro · Tomás Ramos · Alberto Zumbi</dc:creator>
  <cp:lastModifiedBy>Pedro Guerreiro · Tomás Ramos · Alberto Zumbi</cp:lastModifiedBy>
  <cp:revision>1</cp:revision>
  <dcterms:created xsi:type="dcterms:W3CDTF">2026-05-18T11:02:38Z</dcterms:created>
  <dcterms:modified xsi:type="dcterms:W3CDTF">2026-05-18T11:02:38Z</dcterms:modified>
</cp:coreProperties>
</file>