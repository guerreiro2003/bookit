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D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457200" cy="457200"/>
          </a:xfrm>
          <a:prstGeom prst="ellipse">
            <a:avLst/>
          </a:prstGeom>
          <a:ln w="10160">
            <a:solidFill>
              <a:srgbClr val="4F59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F5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280160" y="7132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Guerreiro 20221080  ·  Tomás Ramos 20210834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It.</a:t>
            </a:r>
            <a:endParaRPr lang="en-US" sz="22000" dirty="0"/>
          </a:p>
        </p:txBody>
      </p:sp>
      <p:sp>
        <p:nvSpPr>
          <p:cNvPr id="6" name="Shape 4"/>
          <p:cNvSpPr/>
          <p:nvPr/>
        </p:nvSpPr>
        <p:spPr>
          <a:xfrm>
            <a:off x="640080" y="4937760"/>
            <a:ext cx="365760" cy="10973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multi-tenant de marcações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Cabeleireiros · Estética · Wellness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0" y="6446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 ·  L-IG  ·  4.º Semestre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0" y="713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· Maio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457200" cy="457200"/>
          </a:xfrm>
          <a:prstGeom prst="ellipse">
            <a:avLst/>
          </a:prstGeom>
          <a:ln w="10160">
            <a:solidFill>
              <a:srgbClr val="8FA6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280160" y="7132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10515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8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"Quem ainda gosta de</a:t>
            </a:r>
            <a:endParaRPr lang="en-US" sz="8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88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para marcar?"</a:t>
            </a:r>
            <a:endParaRPr lang="en-US" sz="8800" dirty="0"/>
          </a:p>
        </p:txBody>
      </p:sp>
      <p:sp>
        <p:nvSpPr>
          <p:cNvPr id="7" name="Shape 5"/>
          <p:cNvSpPr/>
          <p:nvPr/>
        </p:nvSpPr>
        <p:spPr>
          <a:xfrm>
            <a:off x="822960" y="5440680"/>
            <a:ext cx="365760" cy="10973"/>
          </a:xfrm>
          <a:prstGeom prst="rect">
            <a:avLst/>
          </a:prstGeom>
          <a:solidFill>
            <a:srgbClr val="B89677"/>
          </a:solidFill>
          <a:ln w="12700">
            <a:solidFill>
              <a:srgbClr val="B896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pergunta que abre cada conversa com um salão.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17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D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02   ·   O PROBLEMA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maneiras de</a:t>
            </a:r>
            <a:endParaRPr lang="en-US" sz="5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6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perder clientes hoje.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640080" y="3474720"/>
            <a:ext cx="2606040" cy="10973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40233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470916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 durante o serviço.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está em cadeira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espera. Quem liga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desiste.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429000" y="3474720"/>
            <a:ext cx="2606040" cy="10973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29000" y="40233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Caderno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29000" y="470916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Rasura, rabisca, perde.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pessoas marcadas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mesma hora —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já não há saída.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17920" y="3474720"/>
            <a:ext cx="2606040" cy="10973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40233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17920" y="470916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foi o último cliente?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Quantos volta­ram este mês?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sabe.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mede.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006840" y="3474720"/>
            <a:ext cx="2606040" cy="10973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0684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06840" y="40233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Fidelização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006840" y="470916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pontos, sem desconto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aniversário, sem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referenciação. O cliente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 onde lhe lembrar.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17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457200" cy="457200"/>
          </a:xfrm>
          <a:prstGeom prst="ellipse">
            <a:avLst/>
          </a:prstGeom>
          <a:ln w="10160">
            <a:solidFill>
              <a:srgbClr val="8FA6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972800" y="713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A SOLUÇÃO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972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It.</a:t>
            </a:r>
            <a:endParaRPr lang="en-US" sz="24000" dirty="0"/>
          </a:p>
        </p:txBody>
      </p:sp>
      <p:sp>
        <p:nvSpPr>
          <p:cNvPr id="6" name="Shape 4"/>
          <p:cNvSpPr/>
          <p:nvPr/>
        </p:nvSpPr>
        <p:spPr>
          <a:xfrm>
            <a:off x="640080" y="5120640"/>
            <a:ext cx="365760" cy="10973"/>
          </a:xfrm>
          <a:prstGeom prst="rect">
            <a:avLst/>
          </a:prstGeom>
          <a:solidFill>
            <a:srgbClr val="B89677"/>
          </a:solidFill>
          <a:ln w="12700">
            <a:solidFill>
              <a:srgbClr val="B896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plataforma. Três portais. Uma experiência.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marca. Equipa serve. Gestor mede.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17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D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04   ·   ARQUITETURA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portais.</a:t>
            </a:r>
            <a:endParaRPr lang="en-US" sz="5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6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base de dados.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525780" y="3200400"/>
            <a:ext cx="3611880" cy="73152"/>
          </a:xfrm>
          <a:prstGeom prst="rect">
            <a:avLst/>
          </a:prstGeom>
          <a:solidFill>
            <a:srgbClr val="4F5938"/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5780" y="3273552"/>
            <a:ext cx="3611880" cy="2926080"/>
          </a:xfrm>
          <a:prstGeom prst="rect">
            <a:avLst/>
          </a:prstGeom>
          <a:solidFill>
            <a:srgbClr val="ECE6D5"/>
          </a:solidFill>
          <a:ln w="6350">
            <a:solidFill>
              <a:srgbClr val="DDD4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010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4F5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0100" y="3794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00100" y="4434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0100" y="489204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5 passos · ~90s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Sem conta ou com conta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Verificação de slots em tempo real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4820" y="3200400"/>
            <a:ext cx="3611880" cy="73152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74820" y="3273552"/>
            <a:ext cx="3611880" cy="2926080"/>
          </a:xfrm>
          <a:prstGeom prst="rect">
            <a:avLst/>
          </a:prstGeom>
          <a:solidFill>
            <a:srgbClr val="ECE6D5"/>
          </a:solidFill>
          <a:ln w="6350">
            <a:solidFill>
              <a:srgbClr val="DDD4C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914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49140" y="3794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/staff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49140" y="4434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49140" y="489204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Marcações do dia em tempo real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Confirmar · Pagar · Cancelar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Não compareceu  →  −5 pts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23860" y="3200400"/>
            <a:ext cx="3611880" cy="73152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23860" y="3273552"/>
            <a:ext cx="3611880" cy="2926080"/>
          </a:xfrm>
          <a:prstGeom prst="rect">
            <a:avLst/>
          </a:prstGeom>
          <a:solidFill>
            <a:srgbClr val="ECE6D5"/>
          </a:solidFill>
          <a:ln w="6350">
            <a:solidFill>
              <a:srgbClr val="DDD4C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9818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98180" y="3794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298180" y="4434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98180" y="489204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Dashboard, estatísticas, CSV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Equipa, serviços, promoções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Pesquisa global  ⌘K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6400800"/>
            <a:ext cx="1097280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base Firestore  ·  mesma conta Firebase  ·  mesma identidade visual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17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D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05   ·   FLUXO DO CLIENTE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passos.</a:t>
            </a:r>
            <a:endParaRPr lang="en-US" sz="5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90 segundos.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996696" y="3584448"/>
            <a:ext cx="10168128" cy="18288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1288" y="3200400"/>
            <a:ext cx="777240" cy="777240"/>
          </a:xfrm>
          <a:prstGeom prst="ellipse">
            <a:avLst/>
          </a:prstGeom>
          <a:solidFill>
            <a:srgbClr val="4F5938"/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61288" y="3200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93776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93776" y="46177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editorial.</a:t>
            </a:r>
            <a:endParaRPr lang="en-US" sz="115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Pacotes com poupança.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3200400"/>
            <a:ext cx="777240" cy="777240"/>
          </a:xfrm>
          <a:prstGeom prst="ellipse">
            <a:avLst/>
          </a:prstGeom>
          <a:solidFill>
            <a:srgbClr val="4F5938"/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3200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761488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761488" y="46177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pessoa</a:t>
            </a:r>
            <a:endParaRPr lang="en-US" sz="115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'sem preferência'.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96712" y="3200400"/>
            <a:ext cx="777240" cy="777240"/>
          </a:xfrm>
          <a:prstGeom prst="ellipse">
            <a:avLst/>
          </a:prstGeom>
          <a:solidFill>
            <a:srgbClr val="4F5938"/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96712" y="3200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02920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hora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29200" y="46177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Calendário.</a:t>
            </a:r>
            <a:endParaRPr lang="en-US" sz="115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 em tempo real.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964424" y="3200400"/>
            <a:ext cx="777240" cy="777240"/>
          </a:xfrm>
          <a:prstGeom prst="ellipse">
            <a:avLst/>
          </a:prstGeom>
          <a:solidFill>
            <a:srgbClr val="4F5938"/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64424" y="3200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296912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296912" y="46177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email, telefone.</a:t>
            </a:r>
            <a:endParaRPr lang="en-US" sz="115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Autopreenche se logado.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232136" y="3200400"/>
            <a:ext cx="777240" cy="777240"/>
          </a:xfrm>
          <a:prstGeom prst="ellipse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32136" y="3200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64624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564624" y="46177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Sucesso editorial.</a:t>
            </a:r>
            <a:endParaRPr lang="en-US" sz="115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referido.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943600"/>
            <a:ext cx="10881360" cy="594360"/>
          </a:xfrm>
          <a:prstGeom prst="rect">
            <a:avLst/>
          </a:prstGeom>
          <a:solidFill>
            <a:srgbClr val="ECE6D5"/>
          </a:solidFill>
          <a:ln w="7620">
            <a:solidFill>
              <a:srgbClr val="8B5E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59436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médio: </a:t>
            </a:r>
            <a:pPr indent="0" marL="0">
              <a:buNone/>
            </a:pPr>
            <a:r>
              <a:rPr lang="en-US" sz="14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90 segundos</a:t>
            </a:r>
            <a:pPr indent="0" marL="0">
              <a:buNone/>
            </a:pPr>
            <a:r>
              <a:rPr lang="en-US" sz="1200" i="1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sem app, sem registo, sem dados desnecessários.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17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D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06   ·   FIDELIZAÇÃO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razões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voltar.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cria os incentivos sozinho. O staff só regista o pagamento — os pontos, os cupões e os códigos de referido nascem em cascata.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5029200"/>
            <a:ext cx="365760" cy="10973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configurável pelo gestor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005840"/>
            <a:ext cx="2697480" cy="2606040"/>
          </a:xfrm>
          <a:prstGeom prst="rect">
            <a:avLst/>
          </a:prstGeom>
          <a:solidFill>
            <a:srgbClr val="ECE6D5"/>
          </a:solidFill>
          <a:ln w="6350">
            <a:solidFill>
              <a:srgbClr val="DDD4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280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1783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por visita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2697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a cada serviço pago.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caducidade.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915400" y="1005840"/>
            <a:ext cx="2697480" cy="2606040"/>
          </a:xfrm>
          <a:prstGeom prst="rect">
            <a:avLst/>
          </a:prstGeom>
          <a:solidFill>
            <a:srgbClr val="ECE6D5"/>
          </a:solidFill>
          <a:ln w="6350">
            <a:solidFill>
              <a:srgbClr val="DDD4C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89720" y="1280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89720" y="1783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Desconto à 5ª visita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189720" y="2697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Cupão automático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20% (configurável).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26480" y="3749040"/>
            <a:ext cx="2697480" cy="2606040"/>
          </a:xfrm>
          <a:prstGeom prst="rect">
            <a:avLst/>
          </a:prstGeom>
          <a:solidFill>
            <a:srgbClr val="ECE6D5"/>
          </a:solidFill>
          <a:ln w="6350">
            <a:solidFill>
              <a:srgbClr val="DDD4C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45262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referido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54406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por cliente.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→ ambos ganham.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15400" y="3749040"/>
            <a:ext cx="2697480" cy="2606040"/>
          </a:xfrm>
          <a:prstGeom prst="rect">
            <a:avLst/>
          </a:prstGeom>
          <a:solidFill>
            <a:srgbClr val="ECE6D5"/>
          </a:solidFill>
          <a:ln w="6350">
            <a:solidFill>
              <a:srgbClr val="DDD4C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9720" y="4023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89720" y="45262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de aniversário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89720" y="54406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Desconto especial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17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365760" cy="365760"/>
          </a:xfrm>
          <a:prstGeom prst="ellipse">
            <a:avLst/>
          </a:prstGeom>
          <a:ln w="10160">
            <a:solidFill>
              <a:srgbClr val="8FA6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i="1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040" dirty="0"/>
          </a:p>
        </p:txBody>
      </p:sp>
      <p:sp>
        <p:nvSpPr>
          <p:cNvPr id="4" name="Text 2"/>
          <p:cNvSpPr/>
          <p:nvPr/>
        </p:nvSpPr>
        <p:spPr>
          <a:xfrm>
            <a:off x="10972800" y="713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PORTAL DA EQUIPA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0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</a:t>
            </a:r>
            <a:endParaRPr lang="en-US" sz="8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80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inteiro</a:t>
            </a:r>
            <a:endParaRPr lang="en-US" sz="8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80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vista.</a:t>
            </a:r>
            <a:endParaRPr lang="en-US" sz="8000" dirty="0"/>
          </a:p>
        </p:txBody>
      </p:sp>
      <p:sp>
        <p:nvSpPr>
          <p:cNvPr id="6" name="Shape 4"/>
          <p:cNvSpPr/>
          <p:nvPr/>
        </p:nvSpPr>
        <p:spPr>
          <a:xfrm>
            <a:off x="640080" y="5120640"/>
            <a:ext cx="365760" cy="10973"/>
          </a:xfrm>
          <a:prstGeom prst="rect">
            <a:avLst/>
          </a:prstGeom>
          <a:solidFill>
            <a:srgbClr val="B89677"/>
          </a:solidFill>
          <a:ln w="12700">
            <a:solidFill>
              <a:srgbClr val="B896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2578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aprendizagem. A equipa entra com password partilhada. Em tempo real, sem refresh.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463040"/>
            <a:ext cx="5486400" cy="4572000"/>
          </a:xfrm>
          <a:prstGeom prst="rect">
            <a:avLst/>
          </a:prstGeom>
          <a:solidFill>
            <a:srgbClr val="1A1814"/>
          </a:solidFill>
          <a:ln w="7620">
            <a:solidFill>
              <a:srgbClr val="2A2724"/>
            </a:solidFill>
            <a:prstDash val="solid"/>
          </a:ln>
          <a:effectLst>
            <a:outerShdw sx="100000" sy="100000" kx="0" ky="0" algn="bl" rotWithShape="0" blurRad="304800" dist="1016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26480" y="1463040"/>
            <a:ext cx="5486400" cy="411480"/>
          </a:xfrm>
          <a:prstGeom prst="rect">
            <a:avLst/>
          </a:prstGeom>
          <a:solidFill>
            <a:srgbClr val="2A2724"/>
          </a:solidFill>
          <a:ln w="12700">
            <a:solidFill>
              <a:srgbClr val="2A27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da equipa  ·  Hoje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972800" y="1609344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0996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309360" y="2057400"/>
            <a:ext cx="1177290" cy="914400"/>
          </a:xfrm>
          <a:prstGeom prst="rect">
            <a:avLst/>
          </a:prstGeom>
          <a:solidFill>
            <a:srgbClr val="0F0F0E"/>
          </a:solidFill>
          <a:ln w="5080">
            <a:solidFill>
              <a:srgbClr val="2A27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2103120"/>
            <a:ext cx="1177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09360" y="2651760"/>
            <a:ext cx="11772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23810" y="2057400"/>
            <a:ext cx="1177290" cy="914400"/>
          </a:xfrm>
          <a:prstGeom prst="rect">
            <a:avLst/>
          </a:prstGeom>
          <a:solidFill>
            <a:srgbClr val="0F0F0E"/>
          </a:solidFill>
          <a:ln w="5080">
            <a:solidFill>
              <a:srgbClr val="2A27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3810" y="2103120"/>
            <a:ext cx="1177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23810" y="2651760"/>
            <a:ext cx="11772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938260" y="2057400"/>
            <a:ext cx="1177290" cy="914400"/>
          </a:xfrm>
          <a:prstGeom prst="rect">
            <a:avLst/>
          </a:prstGeom>
          <a:solidFill>
            <a:srgbClr val="0F0F0E"/>
          </a:solidFill>
          <a:ln w="5080">
            <a:solidFill>
              <a:srgbClr val="2A27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38260" y="2103120"/>
            <a:ext cx="1177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8938260" y="2651760"/>
            <a:ext cx="11772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confirmadas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252710" y="2057400"/>
            <a:ext cx="1177290" cy="914400"/>
          </a:xfrm>
          <a:prstGeom prst="rect">
            <a:avLst/>
          </a:prstGeom>
          <a:solidFill>
            <a:srgbClr val="0F0F0E"/>
          </a:solidFill>
          <a:ln w="5080">
            <a:solidFill>
              <a:srgbClr val="2A27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52710" y="2103120"/>
            <a:ext cx="1177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240€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252710" y="2651760"/>
            <a:ext cx="11772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faturação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55080" y="3246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10:00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32320" y="3246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Silva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595360" y="3246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+ Brushing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424160" y="3337560"/>
            <a:ext cx="1005840" cy="274320"/>
          </a:xfrm>
          <a:prstGeom prst="rect">
            <a:avLst/>
          </a:prstGeom>
          <a:solidFill>
            <a:srgbClr val="1A1814">
              <a:alpha val="70000"/>
            </a:srgbClr>
          </a:solidFill>
          <a:ln w="6350">
            <a:solidFill>
              <a:srgbClr val="8FA67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424160" y="33375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55080" y="3840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11:30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132320" y="3840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Costa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59536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Coloração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424160" y="3931920"/>
            <a:ext cx="1005840" cy="274320"/>
          </a:xfrm>
          <a:prstGeom prst="rect">
            <a:avLst/>
          </a:prstGeom>
          <a:solidFill>
            <a:srgbClr val="1A1814">
              <a:alpha val="70000"/>
            </a:srgbClr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424160" y="39319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5508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132320" y="44348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P.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595360" y="4434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0424160" y="4526280"/>
            <a:ext cx="1005840" cy="274320"/>
          </a:xfrm>
          <a:prstGeom prst="rect">
            <a:avLst/>
          </a:prstGeom>
          <a:solidFill>
            <a:srgbClr val="1A1814">
              <a:alpha val="70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424160" y="45262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55080" y="5029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14:30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132320" y="5029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R.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95360" y="5029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Masculino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424160" y="5120640"/>
            <a:ext cx="1005840" cy="274320"/>
          </a:xfrm>
          <a:prstGeom prst="rect">
            <a:avLst/>
          </a:prstGeom>
          <a:solidFill>
            <a:srgbClr val="1A1814">
              <a:alpha val="70000"/>
            </a:srgbClr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424160" y="5120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17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365760" cy="365760"/>
          </a:xfrm>
          <a:prstGeom prst="ellipse">
            <a:avLst/>
          </a:prstGeom>
          <a:ln w="10160">
            <a:solidFill>
              <a:srgbClr val="8FA6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i="1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040" dirty="0"/>
          </a:p>
        </p:txBody>
      </p:sp>
      <p:sp>
        <p:nvSpPr>
          <p:cNvPr id="4" name="Text 2"/>
          <p:cNvSpPr/>
          <p:nvPr/>
        </p:nvSpPr>
        <p:spPr>
          <a:xfrm>
            <a:off x="10972800" y="713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ADMIN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números. Em tempo real. O resto está a um clique.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" y="2743200"/>
            <a:ext cx="2148840" cy="1645920"/>
          </a:xfrm>
          <a:prstGeom prst="rect">
            <a:avLst/>
          </a:prstGeom>
          <a:solidFill>
            <a:srgbClr val="1A1814"/>
          </a:solidFill>
          <a:ln w="6350">
            <a:solidFill>
              <a:srgbClr val="2A27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" y="301752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62940" y="3931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 HOJE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20340" y="2743200"/>
            <a:ext cx="2148840" cy="1645920"/>
          </a:xfrm>
          <a:prstGeom prst="rect">
            <a:avLst/>
          </a:prstGeom>
          <a:solidFill>
            <a:srgbClr val="1A1814"/>
          </a:solidFill>
          <a:ln w="6350">
            <a:solidFill>
              <a:srgbClr val="2A27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8940" y="301752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2948940" y="3931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06340" y="2743200"/>
            <a:ext cx="2148840" cy="1645920"/>
          </a:xfrm>
          <a:prstGeom prst="rect">
            <a:avLst/>
          </a:prstGeom>
          <a:solidFill>
            <a:srgbClr val="1A1814"/>
          </a:solidFill>
          <a:ln w="6350">
            <a:solidFill>
              <a:srgbClr val="2A27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34940" y="301752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5234940" y="3931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92340" y="2743200"/>
            <a:ext cx="2148840" cy="1645920"/>
          </a:xfrm>
          <a:prstGeom prst="rect">
            <a:avLst/>
          </a:prstGeom>
          <a:solidFill>
            <a:srgbClr val="1A1814"/>
          </a:solidFill>
          <a:ln w="6350">
            <a:solidFill>
              <a:srgbClr val="2A27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20940" y="301752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B89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380€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7520940" y="3931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FATURAÇÃO HOJE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578340" y="2743200"/>
            <a:ext cx="2148840" cy="1645920"/>
          </a:xfrm>
          <a:prstGeom prst="rect">
            <a:avLst/>
          </a:prstGeom>
          <a:solidFill>
            <a:srgbClr val="1A1814"/>
          </a:solidFill>
          <a:ln w="6350">
            <a:solidFill>
              <a:srgbClr val="2A27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06940" y="301752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9806940" y="3931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CLIENTES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40080" y="4937760"/>
            <a:ext cx="3444240" cy="10973"/>
          </a:xfrm>
          <a:prstGeom prst="rect">
            <a:avLst/>
          </a:prstGeom>
          <a:solidFill>
            <a:srgbClr val="2A2724"/>
          </a:solidFill>
          <a:ln w="12700">
            <a:solidFill>
              <a:srgbClr val="2A27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120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88720" y="512064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global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88720" y="5440680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 entre painéis, encontra clientes em ms.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58640" y="4937760"/>
            <a:ext cx="3444240" cy="10973"/>
          </a:xfrm>
          <a:prstGeom prst="rect">
            <a:avLst/>
          </a:prstGeom>
          <a:solidFill>
            <a:srgbClr val="2A2724"/>
          </a:solidFill>
          <a:ln w="12700">
            <a:solidFill>
              <a:srgbClr val="2A27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58640" y="5120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907280" y="512064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dia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907280" y="5440680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visual, eventos coloridos por estado.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77200" y="4937760"/>
            <a:ext cx="3444240" cy="10973"/>
          </a:xfrm>
          <a:prstGeom prst="rect">
            <a:avLst/>
          </a:prstGeom>
          <a:solidFill>
            <a:srgbClr val="2A2724"/>
          </a:solidFill>
          <a:ln w="12700">
            <a:solidFill>
              <a:srgbClr val="2A27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77200" y="5120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25840" y="512064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CSV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625840" y="5440680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 e clientes — para Excel num clique.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17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D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09   ·   CASO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cabeleireiro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Telheiras.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 o caso real ‘Zen Organic Hair Concept’ — um atelier eco-conscious — desde o conceito de marca até à implementação técnica.</a:t>
            </a:r>
            <a:endParaRPr lang="en-US" sz="1350" dirty="0"/>
          </a:p>
          <a:p>
            <a:pPr indent="0" marL="0">
              <a:lnSpc>
                <a:spcPct val="160000"/>
              </a:lnSpc>
              <a:buNone/>
            </a:pPr>
            <a:endParaRPr lang="en-US" sz="13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3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sites em produção, integrados: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4572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97280" y="4572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zen-organic-pt.web.app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público — apothecary editorial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5074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5074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bookit-51575.web.app/?salon=demo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5303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 ligadas ao mesmo salão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5577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5577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BookIt admin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5806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 staff, fotos, parcerias — uma fonte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66560" y="1005840"/>
            <a:ext cx="5029200" cy="5303520"/>
          </a:xfrm>
          <a:prstGeom prst="rect">
            <a:avLst/>
          </a:prstGeom>
          <a:solidFill>
            <a:srgbClr val="E5DDC8"/>
          </a:solidFill>
          <a:ln w="7620">
            <a:solidFill>
              <a:srgbClr val="DDD4C2"/>
            </a:solidFill>
            <a:prstDash val="solid"/>
          </a:ln>
          <a:effectLst>
            <a:outerShdw sx="100000" sy="100000" kx="0" ky="0" algn="bl" rotWithShape="0" blurRad="304800" dist="1016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0" y="1005840"/>
            <a:ext cx="5029200" cy="457200"/>
          </a:xfrm>
          <a:prstGeom prst="rect">
            <a:avLst/>
          </a:prstGeom>
          <a:solidFill>
            <a:srgbClr val="ECE6D5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03720" y="1152144"/>
            <a:ext cx="164592" cy="16459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0" y="1152144"/>
            <a:ext cx="164592" cy="16459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60920" y="1152144"/>
            <a:ext cx="164592" cy="16459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zen-organic-pt.web.app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132320" y="18288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0" kern="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· 2018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132320" y="224028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Tendemos ao</a:t>
            </a:r>
            <a:endParaRPr lang="en-US" sz="3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teu cabelo</a:t>
            </a:r>
            <a:endParaRPr lang="en-US" sz="3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cuidamos</a:t>
            </a:r>
            <a:endParaRPr lang="en-US" sz="3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um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132320" y="40690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jardim.</a:t>
            </a:r>
            <a:endParaRPr lang="en-US" sz="3800" dirty="0"/>
          </a:p>
        </p:txBody>
      </p:sp>
      <p:sp>
        <p:nvSpPr>
          <p:cNvPr id="23" name="Shape 21"/>
          <p:cNvSpPr/>
          <p:nvPr/>
        </p:nvSpPr>
        <p:spPr>
          <a:xfrm>
            <a:off x="7132320" y="5029200"/>
            <a:ext cx="16459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0" y="5029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visita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1503152" y="1920240"/>
            <a:ext cx="0" cy="1463040"/>
          </a:xfrm>
          <a:prstGeom prst="line">
            <a:avLst/>
          </a:prstGeom>
          <a:noFill/>
          <a:ln w="7620">
            <a:solidFill>
              <a:srgbClr val="4F5938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-1800000">
            <a:off x="11457432" y="2109216"/>
            <a:ext cx="307238" cy="164592"/>
          </a:xfrm>
          <a:prstGeom prst="ellipse">
            <a:avLst/>
          </a:prstGeom>
          <a:solidFill>
            <a:srgbClr val="4F5938">
              <a:alpha val="50000"/>
            </a:srgbClr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800000">
            <a:off x="11548872" y="2353056"/>
            <a:ext cx="307238" cy="164592"/>
          </a:xfrm>
          <a:prstGeom prst="ellipse">
            <a:avLst/>
          </a:prstGeom>
          <a:solidFill>
            <a:srgbClr val="4F5938">
              <a:alpha val="50000"/>
            </a:srgbClr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-1800000">
            <a:off x="11457432" y="2596896"/>
            <a:ext cx="307238" cy="164592"/>
          </a:xfrm>
          <a:prstGeom prst="ellipse">
            <a:avLst/>
          </a:prstGeom>
          <a:solidFill>
            <a:srgbClr val="4F5938">
              <a:alpha val="50000"/>
            </a:srgbClr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800000">
            <a:off x="11548872" y="2840736"/>
            <a:ext cx="307238" cy="164592"/>
          </a:xfrm>
          <a:prstGeom prst="ellipse">
            <a:avLst/>
          </a:prstGeom>
          <a:solidFill>
            <a:srgbClr val="4F5938">
              <a:alpha val="50000"/>
            </a:srgbClr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-1800000">
            <a:off x="11457432" y="3084576"/>
            <a:ext cx="307238" cy="164592"/>
          </a:xfrm>
          <a:prstGeom prst="ellipse">
            <a:avLst/>
          </a:prstGeom>
          <a:solidFill>
            <a:srgbClr val="4F5938">
              <a:alpha val="50000"/>
            </a:srgbClr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·  17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365760" cy="365760"/>
          </a:xfrm>
          <a:prstGeom prst="ellipse">
            <a:avLst/>
          </a:prstGeom>
          <a:ln w="10160">
            <a:solidFill>
              <a:srgbClr val="8FA6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i="1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040" dirty="0"/>
          </a:p>
        </p:txBody>
      </p:sp>
      <p:sp>
        <p:nvSpPr>
          <p:cNvPr id="4" name="Text 2"/>
          <p:cNvSpPr/>
          <p:nvPr/>
        </p:nvSpPr>
        <p:spPr>
          <a:xfrm>
            <a:off x="10972800" y="713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·  STACK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972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6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build step.</a:t>
            </a:r>
            <a:endParaRPr lang="en-US" sz="6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framework.</a:t>
            </a:r>
            <a:endParaRPr lang="en-US" sz="6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standards.</a:t>
            </a:r>
            <a:endParaRPr lang="en-US" sz="6400" dirty="0"/>
          </a:p>
        </p:txBody>
      </p:sp>
      <p:sp>
        <p:nvSpPr>
          <p:cNvPr id="6" name="Shape 4"/>
          <p:cNvSpPr/>
          <p:nvPr/>
        </p:nvSpPr>
        <p:spPr>
          <a:xfrm>
            <a:off x="640080" y="4297680"/>
            <a:ext cx="10972800" cy="10973"/>
          </a:xfrm>
          <a:prstGeom prst="rect">
            <a:avLst/>
          </a:prstGeom>
          <a:solidFill>
            <a:srgbClr val="2A2724"/>
          </a:solidFill>
          <a:ln w="12700">
            <a:solidFill>
              <a:srgbClr val="2A27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407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194560" y="44074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· CSS3 · JavaScript (ES Modules)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0" y="44074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dependências no browser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4754880"/>
            <a:ext cx="10972800" cy="10973"/>
          </a:xfrm>
          <a:prstGeom prst="rect">
            <a:avLst/>
          </a:prstGeom>
          <a:solidFill>
            <a:srgbClr val="2A2724"/>
          </a:solidFill>
          <a:ln w="12700">
            <a:solidFill>
              <a:srgbClr val="2A27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864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94560" y="4864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próprio · Inter + Cormorant Garamond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0" y="4864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semânticos · dark mode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5212080"/>
            <a:ext cx="10972800" cy="10973"/>
          </a:xfrm>
          <a:prstGeom prst="rect">
            <a:avLst/>
          </a:prstGeom>
          <a:solidFill>
            <a:srgbClr val="2A2724"/>
          </a:solidFill>
          <a:ln w="12700">
            <a:solidFill>
              <a:srgbClr val="2A27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321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194560" y="5321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 · Firestore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686800" y="53218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· regras servidor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5669280"/>
            <a:ext cx="10972800" cy="10973"/>
          </a:xfrm>
          <a:prstGeom prst="rect">
            <a:avLst/>
          </a:prstGeom>
          <a:solidFill>
            <a:srgbClr val="2A2724"/>
          </a:solidFill>
          <a:ln w="12700">
            <a:solidFill>
              <a:srgbClr val="2A27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7790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94560" y="5779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Hosting + GitHub auto-deploy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686800" y="5779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· headers de segurança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6126480"/>
            <a:ext cx="10972800" cy="10973"/>
          </a:xfrm>
          <a:prstGeom prst="rect">
            <a:avLst/>
          </a:prstGeom>
          <a:solidFill>
            <a:srgbClr val="2A2724"/>
          </a:solidFill>
          <a:ln w="12700">
            <a:solidFill>
              <a:srgbClr val="2A27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2362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TRANSAÇÕES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94560" y="62362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runTransaction · writeBatch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86800" y="62362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+ pontos atómicos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·  17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D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11   ·   DESIGN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apothecary.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Aesop · Grown Alchemist · Tatcha · Kinfolk.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1661160" cy="1097280"/>
          </a:xfrm>
          <a:prstGeom prst="rect">
            <a:avLst/>
          </a:prstGeom>
          <a:solidFill>
            <a:srgbClr val="F2EDE0"/>
          </a:solidFill>
          <a:ln w="5080">
            <a:solidFill>
              <a:srgbClr val="DDD4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9319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warm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41605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#F2EDE0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84120" y="2743200"/>
            <a:ext cx="1661160" cy="1097280"/>
          </a:xfrm>
          <a:prstGeom prst="rect">
            <a:avLst/>
          </a:prstGeom>
          <a:solidFill>
            <a:srgbClr val="4F5938"/>
          </a:solidFill>
          <a:ln w="5080">
            <a:solidFill>
              <a:srgbClr val="DDD4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84120" y="39319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moss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84120" y="41605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#4F5938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28160" y="2743200"/>
            <a:ext cx="1661160" cy="1097280"/>
          </a:xfrm>
          <a:prstGeom prst="rect">
            <a:avLst/>
          </a:prstGeom>
          <a:solidFill>
            <a:srgbClr val="8B5E3C"/>
          </a:solidFill>
          <a:ln w="5080">
            <a:solidFill>
              <a:srgbClr val="DDD4C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8160" y="39319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Terracotta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28160" y="41605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#8B5E3C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72200" y="2743200"/>
            <a:ext cx="1661160" cy="1097280"/>
          </a:xfrm>
          <a:prstGeom prst="rect">
            <a:avLst/>
          </a:prstGeom>
          <a:solidFill>
            <a:srgbClr val="1A1814"/>
          </a:solidFill>
          <a:ln w="5080">
            <a:solidFill>
              <a:srgbClr val="DDD4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39319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72200" y="41605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#1A1814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016240" y="2743200"/>
            <a:ext cx="1661160" cy="1097280"/>
          </a:xfrm>
          <a:prstGeom prst="rect">
            <a:avLst/>
          </a:prstGeom>
          <a:solidFill>
            <a:srgbClr val="ECE6D5"/>
          </a:solidFill>
          <a:ln w="5080">
            <a:solidFill>
              <a:srgbClr val="DDD4C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6240" y="39319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alt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16240" y="41605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#ECE6D5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860280" y="2743200"/>
            <a:ext cx="1661160" cy="1097280"/>
          </a:xfrm>
          <a:prstGeom prst="rect">
            <a:avLst/>
          </a:prstGeom>
          <a:solidFill>
            <a:srgbClr val="16A34A"/>
          </a:solidFill>
          <a:ln w="5080">
            <a:solidFill>
              <a:srgbClr val="DDD4C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60280" y="39319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Sucesso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860280" y="416052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#16A34A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4937760"/>
            <a:ext cx="1097280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074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10000" dirty="0"/>
          </a:p>
        </p:txBody>
      </p:sp>
      <p:sp>
        <p:nvSpPr>
          <p:cNvPr id="25" name="Text 23"/>
          <p:cNvSpPr/>
          <p:nvPr/>
        </p:nvSpPr>
        <p:spPr>
          <a:xfrm>
            <a:off x="2560320" y="5212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Cormorant Garamond italic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56032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títulos editoriais. Carácter forte, restraint.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0" y="5074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000" dirty="0"/>
          </a:p>
        </p:txBody>
      </p:sp>
      <p:sp>
        <p:nvSpPr>
          <p:cNvPr id="28" name="Text 26"/>
          <p:cNvSpPr/>
          <p:nvPr/>
        </p:nvSpPr>
        <p:spPr>
          <a:xfrm>
            <a:off x="86868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686800" y="5623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corpo e UI. Legível em qualquer tamanho.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·  17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365760" cy="365760"/>
          </a:xfrm>
          <a:prstGeom prst="ellipse">
            <a:avLst/>
          </a:prstGeom>
          <a:ln w="10160">
            <a:solidFill>
              <a:srgbClr val="8FA6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i="1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040" dirty="0"/>
          </a:p>
        </p:txBody>
      </p:sp>
      <p:sp>
        <p:nvSpPr>
          <p:cNvPr id="4" name="Text 2"/>
          <p:cNvSpPr/>
          <p:nvPr/>
        </p:nvSpPr>
        <p:spPr>
          <a:xfrm>
            <a:off x="10972800" y="713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·  EM NÚMEROS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2606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0" i="1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6 411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594360" y="3749040"/>
            <a:ext cx="914400" cy="10973"/>
          </a:xfrm>
          <a:prstGeom prst="rect">
            <a:avLst/>
          </a:prstGeom>
          <a:solidFill>
            <a:srgbClr val="B89677"/>
          </a:solidFill>
          <a:ln w="12700">
            <a:solidFill>
              <a:srgbClr val="B896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886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CÓDIGO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4160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CSS · JS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63040"/>
            <a:ext cx="2606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000" dirty="0"/>
          </a:p>
        </p:txBody>
      </p:sp>
      <p:sp>
        <p:nvSpPr>
          <p:cNvPr id="10" name="Shape 8"/>
          <p:cNvSpPr/>
          <p:nvPr/>
        </p:nvSpPr>
        <p:spPr>
          <a:xfrm>
            <a:off x="3383280" y="3749040"/>
            <a:ext cx="914400" cy="10973"/>
          </a:xfrm>
          <a:prstGeom prst="rect">
            <a:avLst/>
          </a:prstGeom>
          <a:solidFill>
            <a:srgbClr val="B89677"/>
          </a:solidFill>
          <a:ln w="12700">
            <a:solidFill>
              <a:srgbClr val="B896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3886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FICHEIROS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4160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Páginas, módulos, docs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72200" y="1463040"/>
            <a:ext cx="2606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0" dirty="0"/>
          </a:p>
        </p:txBody>
      </p:sp>
      <p:sp>
        <p:nvSpPr>
          <p:cNvPr id="14" name="Shape 12"/>
          <p:cNvSpPr/>
          <p:nvPr/>
        </p:nvSpPr>
        <p:spPr>
          <a:xfrm>
            <a:off x="6172200" y="3749040"/>
            <a:ext cx="914400" cy="10973"/>
          </a:xfrm>
          <a:prstGeom prst="rect">
            <a:avLst/>
          </a:prstGeom>
          <a:solidFill>
            <a:srgbClr val="B89677"/>
          </a:solidFill>
          <a:ln w="12700">
            <a:solidFill>
              <a:srgbClr val="B896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3886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WEB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72200" y="4160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Cliente, equipa, admin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961120" y="1463040"/>
            <a:ext cx="2606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0" dirty="0"/>
          </a:p>
        </p:txBody>
      </p:sp>
      <p:sp>
        <p:nvSpPr>
          <p:cNvPr id="18" name="Shape 16"/>
          <p:cNvSpPr/>
          <p:nvPr/>
        </p:nvSpPr>
        <p:spPr>
          <a:xfrm>
            <a:off x="8961120" y="3749040"/>
            <a:ext cx="914400" cy="10973"/>
          </a:xfrm>
          <a:prstGeom prst="rect">
            <a:avLst/>
          </a:prstGeom>
          <a:solidFill>
            <a:srgbClr val="B89677"/>
          </a:solidFill>
          <a:ln w="12700">
            <a:solidFill>
              <a:srgbClr val="B896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0" y="3886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EM PRODUÇÃO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61120" y="4160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BookIt + Zen Organic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5486400"/>
            <a:ext cx="10972800" cy="10973"/>
          </a:xfrm>
          <a:prstGeom prst="rect">
            <a:avLst/>
          </a:prstGeom>
          <a:solidFill>
            <a:srgbClr val="2A2724"/>
          </a:solidFill>
          <a:ln w="12700">
            <a:solidFill>
              <a:srgbClr val="2A27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issues encontrados na auditoria  ·  19 bugs corrigidos  ·  8 funcionalidades novas  ·  12 commits Git documentados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·  17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D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13   ·   O QUE VEM A SEGUIR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Roadmap.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914400" y="3657600"/>
            <a:ext cx="1033272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41398" y="3502152"/>
            <a:ext cx="329184" cy="329184"/>
          </a:xfrm>
          <a:prstGeom prst="ellipse">
            <a:avLst/>
          </a:prstGeom>
          <a:solidFill>
            <a:srgbClr val="8B5E3C"/>
          </a:solidFill>
          <a:ln w="30480">
            <a:solidFill>
              <a:srgbClr val="8B5E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439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4390" y="4023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v2.3 em produção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34390" y="45720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demonstramos hoje, online.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24578" y="3502152"/>
            <a:ext cx="329184" cy="329184"/>
          </a:xfrm>
          <a:prstGeom prst="ellipse">
            <a:avLst/>
          </a:prstGeom>
          <a:solidFill>
            <a:srgbClr val="F2EDE0"/>
          </a:solidFill>
          <a:ln w="30480">
            <a:solidFill>
              <a:srgbClr val="8B5E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1757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17570" y="4023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Pagamentos online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17570" y="45720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+ MB Way no portal cliente.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07758" y="3502152"/>
            <a:ext cx="329184" cy="329184"/>
          </a:xfrm>
          <a:prstGeom prst="ellipse">
            <a:avLst/>
          </a:prstGeom>
          <a:solidFill>
            <a:srgbClr val="F2EDE0"/>
          </a:solidFill>
          <a:ln w="30480">
            <a:solidFill>
              <a:srgbClr val="8B5E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0075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00750" y="4023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000750" y="45720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SMS lembrete, Web Push staff.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790938" y="3502152"/>
            <a:ext cx="329184" cy="329184"/>
          </a:xfrm>
          <a:prstGeom prst="ellipse">
            <a:avLst/>
          </a:prstGeom>
          <a:solidFill>
            <a:srgbClr val="F2EDE0"/>
          </a:solidFill>
          <a:ln w="30480">
            <a:solidFill>
              <a:srgbClr val="8B5E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8393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583930" y="4023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Multi-admin &amp; API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583930" y="45720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Vários administradores. API pública REST.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126480"/>
            <a:ext cx="1097280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conhecida e documentada: produção pede regras Firestore mais restritas (Cloud Function para slot-availability)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·  17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365760" cy="365760"/>
          </a:xfrm>
          <a:prstGeom prst="ellipse">
            <a:avLst/>
          </a:prstGeom>
          <a:ln w="10160">
            <a:solidFill>
              <a:srgbClr val="8FA6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i="1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040" dirty="0"/>
          </a:p>
        </p:txBody>
      </p:sp>
      <p:sp>
        <p:nvSpPr>
          <p:cNvPr id="4" name="Text 2"/>
          <p:cNvSpPr/>
          <p:nvPr/>
        </p:nvSpPr>
        <p:spPr>
          <a:xfrm>
            <a:off x="10972800" y="713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·  AO VIVO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isto</a:t>
            </a:r>
            <a:endParaRPr lang="en-US" sz="8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8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online.</a:t>
            </a:r>
            <a:endParaRPr lang="en-US" sz="8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8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Agora.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640080" y="4572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9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4572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PÚBLICO ZEN ORGANIC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0" y="45720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zen-organic-pt.web.app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983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9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4983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20640" y="49834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bookit-51575.web.app/?salon=demo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3949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9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5394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CLIENTE · ZEN CLUB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120640" y="53949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bookit-51575.web.app/account.html?salon=demo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806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9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5806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F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20640" y="5806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bookit-51575.web.app/admin.html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E9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·  17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ED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92256" y="1371600"/>
            <a:ext cx="0" cy="4389120"/>
          </a:xfrm>
          <a:prstGeom prst="line">
            <a:avLst/>
          </a:prstGeom>
          <a:noFill/>
          <a:ln w="7620">
            <a:solidFill>
              <a:srgbClr val="4F5938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1800000">
            <a:off x="11146536" y="2048256"/>
            <a:ext cx="921715" cy="164592"/>
          </a:xfrm>
          <a:prstGeom prst="ellipse">
            <a:avLst/>
          </a:prstGeom>
          <a:solidFill>
            <a:srgbClr val="4F5938">
              <a:alpha val="45000"/>
            </a:srgbClr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11237976" y="2779776"/>
            <a:ext cx="921715" cy="164592"/>
          </a:xfrm>
          <a:prstGeom prst="ellipse">
            <a:avLst/>
          </a:prstGeom>
          <a:solidFill>
            <a:srgbClr val="4F5938">
              <a:alpha val="45000"/>
            </a:srgbClr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800000">
            <a:off x="11146536" y="3511296"/>
            <a:ext cx="921715" cy="164592"/>
          </a:xfrm>
          <a:prstGeom prst="ellipse">
            <a:avLst/>
          </a:prstGeom>
          <a:solidFill>
            <a:srgbClr val="4F5938">
              <a:alpha val="45000"/>
            </a:srgbClr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800000">
            <a:off x="11237976" y="4242816"/>
            <a:ext cx="921715" cy="164592"/>
          </a:xfrm>
          <a:prstGeom prst="ellipse">
            <a:avLst/>
          </a:prstGeom>
          <a:solidFill>
            <a:srgbClr val="4F5938">
              <a:alpha val="45000"/>
            </a:srgbClr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1800000">
            <a:off x="11146536" y="4974336"/>
            <a:ext cx="921715" cy="164592"/>
          </a:xfrm>
          <a:prstGeom prst="ellipse">
            <a:avLst/>
          </a:prstGeom>
          <a:solidFill>
            <a:srgbClr val="4F5938">
              <a:alpha val="45000"/>
            </a:srgbClr>
          </a:solidFill>
          <a:ln w="12700">
            <a:solidFill>
              <a:srgbClr val="4F593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640080"/>
            <a:ext cx="457200" cy="457200"/>
          </a:xfrm>
          <a:prstGeom prst="ellipse">
            <a:avLst/>
          </a:prstGeom>
          <a:ln w="10160">
            <a:solidFill>
              <a:srgbClr val="4F59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640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F5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7132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1031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</a:t>
            </a:r>
            <a:endParaRPr lang="en-US" sz="20000" dirty="0"/>
          </a:p>
        </p:txBody>
      </p:sp>
      <p:sp>
        <p:nvSpPr>
          <p:cNvPr id="12" name="Shape 10"/>
          <p:cNvSpPr/>
          <p:nvPr/>
        </p:nvSpPr>
        <p:spPr>
          <a:xfrm>
            <a:off x="640080" y="4480560"/>
            <a:ext cx="365760" cy="10973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6177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8B5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3800" dirty="0"/>
          </a:p>
        </p:txBody>
      </p:sp>
      <p:sp>
        <p:nvSpPr>
          <p:cNvPr id="14" name="Shape 12"/>
          <p:cNvSpPr/>
          <p:nvPr/>
        </p:nvSpPr>
        <p:spPr>
          <a:xfrm>
            <a:off x="640080" y="5989320"/>
            <a:ext cx="1097280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Guerreiro  20221080   ·   Tomás Ramos  20210834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0" y="6126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4.º Semestre · Maio 2026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·  17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ED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 ·   PRINCIPAIS DESAFIOS RESOLVIDOS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Aprendizagens.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530352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97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 conditions em multi-tab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Firestore podem disparar a sub-criar duplicados. Resolvido com runTransaction.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3474720"/>
            <a:ext cx="530352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Firestore vs slot-collision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Anónimos precisam de ler bookings para evitar double-booking. Public read, sem PII visível.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530352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526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atómico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892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+ pontos + cupão num só commit. Se falhar, nada fica meio-feito.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5303520"/>
            <a:ext cx="530352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440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salon escondia bugs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806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Mudámos para 'demo' (populado). Sintomas de fluxo partido desapareceram.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2560320"/>
            <a:ext cx="530352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697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em Firestore (não Storage)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0" y="3063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client-side para JPEG 400×400. ~50KB por foto — cabe nos 1MB/doc.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3474720"/>
            <a:ext cx="530352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nav colado aberto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display:flex sobrepunha [hidden]. Adicionámos selector explícito.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4389120"/>
            <a:ext cx="530352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526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fonte de verdade para conteúdo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0" y="4892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Eliminámos localStorage admin do Zen Organic. Tudo em Firestore.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0" y="5303520"/>
            <a:ext cx="5303520" cy="10973"/>
          </a:xfrm>
          <a:prstGeom prst="rect">
            <a:avLst/>
          </a:prstGeom>
          <a:solidFill>
            <a:srgbClr val="DDD4C2"/>
          </a:solidFill>
          <a:ln w="12700">
            <a:solidFill>
              <a:srgbClr val="DDD4C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5440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vs polling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00800" y="5806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onSnapshot em hoje + bookings. Equipa nunca dá refresh.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·  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IADE · Universidade Europeia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 It</dc:title>
  <dc:subject>PptxGenJS Presentation</dc:subject>
  <dc:creator>Pedro Guerreiro &amp; Tomás Ramos</dc:creator>
  <cp:lastModifiedBy>Pedro Guerreiro &amp; Tomás Ramos</cp:lastModifiedBy>
  <cp:revision>1</cp:revision>
  <dcterms:created xsi:type="dcterms:W3CDTF">2026-05-18T08:06:56Z</dcterms:created>
  <dcterms:modified xsi:type="dcterms:W3CDTF">2026-05-18T08:06:56Z</dcterms:modified>
</cp:coreProperties>
</file>