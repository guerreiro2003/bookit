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548640" cy="548640"/>
          </a:xfrm>
          <a:prstGeom prst="rect">
            <a:avLst/>
          </a:prstGeom>
          <a:solidFill>
            <a:srgbClr val="6B7C5A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325880" y="777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A4B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DE PROJETO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64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multi-tenant</a:t>
            </a:r>
            <a:endParaRPr lang="en-US" sz="6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4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marcações para salões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640080" y="49377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web que substitui o telefone e o caderno por uma experiência online — para o cliente, a equipa e o gestor.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5989320"/>
            <a:ext cx="365760" cy="18288"/>
          </a:xfrm>
          <a:prstGeom prst="rect">
            <a:avLst/>
          </a:prstGeom>
          <a:solidFill>
            <a:srgbClr val="A4B699"/>
          </a:solidFill>
          <a:ln w="12700">
            <a:solidFill>
              <a:srgbClr val="A4B6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6126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Pedro Guerreiro</a:t>
            </a:r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20221080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</a:t>
            </a:r>
            <a:pPr indent="0" marL="0">
              <a:buNone/>
            </a:pPr>
            <a:r>
              <a:rPr lang="en-US" sz="12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Tomás Ramos</a:t>
            </a:r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20210834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IADE · Universidade Europeia · Licenciatura em Informática para a Gestão · 2025/2026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Gerir um salão à mão custa tempo e clientes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822960" cy="822960"/>
          </a:xfrm>
          <a:prstGeom prst="ellipse">
            <a:avLst/>
          </a:prstGeom>
          <a:solidFill>
            <a:srgbClr val="EEF3E8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📞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920240" y="20574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Telefonemas constantes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920240" y="2468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Atender, anotar, confirmar. O telefone toca durante o serviço e interrompe o atendimento.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063240"/>
            <a:ext cx="822960" cy="822960"/>
          </a:xfrm>
          <a:prstGeom prst="ellipse">
            <a:avLst/>
          </a:prstGeom>
          <a:solidFill>
            <a:srgbClr val="EEF3E8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063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📓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920240" y="310896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em papel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920240" y="3520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Riscar, corrigir, perder horas. Erros de comunicação geram clientes zangados.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" y="4114800"/>
            <a:ext cx="822960" cy="822960"/>
          </a:xfrm>
          <a:prstGeom prst="ellipse">
            <a:avLst/>
          </a:prstGeom>
          <a:solidFill>
            <a:srgbClr val="EEF3E8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114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👋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920240" y="41605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fidelização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920240" y="45720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há forma simples de recompensar quem volta nem trazer amigos novos.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2960" y="5166360"/>
            <a:ext cx="822960" cy="822960"/>
          </a:xfrm>
          <a:prstGeom prst="ellipse">
            <a:avLst/>
          </a:prstGeom>
          <a:solidFill>
            <a:srgbClr val="EEF3E8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166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1920240" y="52120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dados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920240" y="562356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Quantos clientes? Que faturação? Quem não compareceu? O gestor decide no escuro.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It · 2 / 14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04088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IADE · L-IG · 2025/2026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plataforma · três portais · uma experiência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i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telefone deixa de tocar.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i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caderno desaparece.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i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aparecem."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5120640"/>
            <a:ext cx="548640" cy="36576"/>
          </a:xfrm>
          <a:prstGeom prst="rect">
            <a:avLst/>
          </a:prstGeom>
          <a:solidFill>
            <a:srgbClr val="6B7C5A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257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· Real-time · Mobile-first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766560" y="2103120"/>
            <a:ext cx="4754880" cy="1280160"/>
          </a:xfrm>
          <a:prstGeom prst="rect">
            <a:avLst/>
          </a:prstGeom>
          <a:solidFill>
            <a:srgbClr val="FAFAF9"/>
          </a:solidFill>
          <a:ln w="12700">
            <a:solidFill>
              <a:srgbClr val="E4E4E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040880" y="22860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0" y="26060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clientes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040880" y="30175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Marcam 24/7 em 5 passos. Acumulam pontos. Veem o histórico.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766560" y="3520440"/>
            <a:ext cx="4754880" cy="1280160"/>
          </a:xfrm>
          <a:prstGeom prst="rect">
            <a:avLst/>
          </a:prstGeom>
          <a:solidFill>
            <a:srgbClr val="FAFAF9"/>
          </a:solidFill>
          <a:ln w="12700">
            <a:solidFill>
              <a:srgbClr val="E4E4E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040880" y="3703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040880" y="40233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 equipa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040880" y="44348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 inteiro à vista. Confirma, regista pagamentos, gere ausências.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766560" y="4937760"/>
            <a:ext cx="4754880" cy="1280160"/>
          </a:xfrm>
          <a:prstGeom prst="rect">
            <a:avLst/>
          </a:prstGeom>
          <a:solidFill>
            <a:srgbClr val="FAFAF9"/>
          </a:solidFill>
          <a:ln w="12700">
            <a:solidFill>
              <a:srgbClr val="E4E4E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040880" y="51206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040880" y="54406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gestor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040880" y="58521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em tempo real. KPIs, fidelização e exportação CSV.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It · 3 / 14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04088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IADE · L-IG · 2025/2026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portais sobre a mesma base de dados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474720" cy="3657600"/>
          </a:xfrm>
          <a:prstGeom prst="rect">
            <a:avLst/>
          </a:prstGeom>
          <a:solidFill>
            <a:srgbClr val="FFFFFF"/>
          </a:solidFill>
          <a:ln w="15240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874520"/>
            <a:ext cx="3474720" cy="73152"/>
          </a:xfrm>
          <a:prstGeom prst="rect">
            <a:avLst/>
          </a:prstGeom>
          <a:solidFill>
            <a:srgbClr val="6B7C5A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331720"/>
            <a:ext cx="914400" cy="914400"/>
          </a:xfrm>
          <a:prstGeom prst="ellipse">
            <a:avLst/>
          </a:prstGeom>
          <a:solidFill>
            <a:srgbClr val="F4F4F0"/>
          </a:solidFill>
          <a:ln w="19050">
            <a:solidFill>
              <a:srgbClr val="6B7C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3317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👤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91440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6B7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3703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F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/index.html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1440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Marcação em 5 passos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4572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conta ou com conta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4937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Pop-up Zen Club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43400" y="1874520"/>
            <a:ext cx="3474720" cy="3657600"/>
          </a:xfrm>
          <a:prstGeom prst="rect">
            <a:avLst/>
          </a:prstGeom>
          <a:solidFill>
            <a:srgbClr val="FFFFFF"/>
          </a:solidFill>
          <a:ln w="15240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43400" y="1874520"/>
            <a:ext cx="3474720" cy="73152"/>
          </a:xfrm>
          <a:prstGeom prst="rect">
            <a:avLst/>
          </a:prstGeom>
          <a:solidFill>
            <a:srgbClr val="C28840"/>
          </a:solidFill>
          <a:ln w="12700">
            <a:solidFill>
              <a:srgbClr val="C288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09160" y="2331720"/>
            <a:ext cx="914400" cy="914400"/>
          </a:xfrm>
          <a:prstGeom prst="ellipse">
            <a:avLst/>
          </a:prstGeom>
          <a:solidFill>
            <a:srgbClr val="F4F4F0"/>
          </a:solidFill>
          <a:ln w="19050">
            <a:solidFill>
              <a:srgbClr val="C288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09160" y="23317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👥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47091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C28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09160" y="3703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F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/staff.html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70916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Marcações do dia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709160" y="4572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Registo de pagamentos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709160" y="4937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compareceu / cancelar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138160" y="1874520"/>
            <a:ext cx="3474720" cy="3657600"/>
          </a:xfrm>
          <a:prstGeom prst="rect">
            <a:avLst/>
          </a:prstGeom>
          <a:solidFill>
            <a:srgbClr val="FFFFFF"/>
          </a:solidFill>
          <a:ln w="15240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38160" y="1874520"/>
            <a:ext cx="3474720" cy="73152"/>
          </a:xfrm>
          <a:prstGeom prst="rect">
            <a:avLst/>
          </a:prstGeom>
          <a:solidFill>
            <a:srgbClr val="0F0F11"/>
          </a:solidFill>
          <a:ln w="12700">
            <a:solidFill>
              <a:srgbClr val="0F0F1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03920" y="2331720"/>
            <a:ext cx="914400" cy="914400"/>
          </a:xfrm>
          <a:prstGeom prst="ellipse">
            <a:avLst/>
          </a:prstGeom>
          <a:solidFill>
            <a:srgbClr val="F4F4F0"/>
          </a:solidFill>
          <a:ln w="19050">
            <a:solidFill>
              <a:srgbClr val="0F0F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03920" y="23317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🔧</a:t>
            </a:r>
            <a:endParaRPr lang="en-US" sz="3800" dirty="0"/>
          </a:p>
        </p:txBody>
      </p:sp>
      <p:sp>
        <p:nvSpPr>
          <p:cNvPr id="26" name="Text 24"/>
          <p:cNvSpPr/>
          <p:nvPr/>
        </p:nvSpPr>
        <p:spPr>
          <a:xfrm>
            <a:off x="850392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503920" y="3703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F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/admin.html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850392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em tempo real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503920" y="4572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completa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503920" y="4937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3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de dia · CSV · ⌘K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" y="58521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partilham app.js · firebase.js · styles.css · uma só conta de Firebase.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It · 4 / 14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04088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IADE · L-IG · 2025/2026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DO CLIENTE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Marcação em 5 passos · sem conta necessária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88136" y="2194560"/>
            <a:ext cx="914400" cy="914400"/>
          </a:xfrm>
          <a:prstGeom prst="ellipse">
            <a:avLst/>
          </a:prstGeom>
          <a:solidFill>
            <a:srgbClr val="6B7C5A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88136" y="2194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493776" y="3246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85216" y="36576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serviços com preço, duração e pacotes.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59736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1717A"/>
                </a:solidFill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355848" y="2194560"/>
            <a:ext cx="914400" cy="914400"/>
          </a:xfrm>
          <a:prstGeom prst="ellipse">
            <a:avLst/>
          </a:prstGeom>
          <a:solidFill>
            <a:srgbClr val="6B7C5A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5848" y="2194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2761488" y="3246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Colaborador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852928" y="36576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 um nome ou "sem preferência".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27448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1717A"/>
                </a:solidFill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623560" y="2194560"/>
            <a:ext cx="914400" cy="914400"/>
          </a:xfrm>
          <a:prstGeom prst="ellipse">
            <a:avLst/>
          </a:prstGeom>
          <a:solidFill>
            <a:srgbClr val="6B7C5A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23560" y="2194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5029200" y="3246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hora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120640" y="36576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Calendário com horários disponíveis em tempo real.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9516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1717A"/>
                </a:solidFill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891272" y="2194560"/>
            <a:ext cx="914400" cy="914400"/>
          </a:xfrm>
          <a:prstGeom prst="ellipse">
            <a:avLst/>
          </a:prstGeom>
          <a:solidFill>
            <a:srgbClr val="6B7C5A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91272" y="2194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7296912" y="3246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88352" y="36576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Nome, email, telemóvel. Notas opcionais.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62872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1717A"/>
                </a:solidFill>
              </a:rPr>
              <a:t>→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158984" y="2194560"/>
            <a:ext cx="914400" cy="914400"/>
          </a:xfrm>
          <a:prstGeom prst="ellipse">
            <a:avLst/>
          </a:prstGeom>
          <a:solidFill>
            <a:srgbClr val="6B7C5A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158984" y="2194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200" dirty="0"/>
          </a:p>
        </p:txBody>
      </p:sp>
      <p:sp>
        <p:nvSpPr>
          <p:cNvPr id="26" name="Text 24"/>
          <p:cNvSpPr/>
          <p:nvPr/>
        </p:nvSpPr>
        <p:spPr>
          <a:xfrm>
            <a:off x="9564624" y="3246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656064" y="36576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+ código de referido único.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166360"/>
            <a:ext cx="10881360" cy="731520"/>
          </a:xfrm>
          <a:prstGeom prst="rect">
            <a:avLst/>
          </a:prstGeom>
          <a:solidFill>
            <a:srgbClr val="EEF3E8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51663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🌿  </a:t>
            </a:r>
            <a:pPr indent="0" marL="0">
              <a:buNone/>
            </a:pPr>
            <a:r>
              <a:rPr lang="en-US" sz="1400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médio da primeira marcação: </a:t>
            </a:r>
            <a:pPr indent="0" marL="0">
              <a:buNone/>
            </a:pPr>
            <a:r>
              <a:rPr lang="en-US" sz="1400" b="1" dirty="0">
                <a:solidFill>
                  <a:srgbClr val="6B7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90 segundos.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It · 5 / 14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04088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IADE · L-IG · 2025/2026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FIDELIZAÇÃO · ZEN CLUB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mecânicas para fazer voltar quem já veio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17220" y="1965960"/>
            <a:ext cx="5303520" cy="1691640"/>
          </a:xfrm>
          <a:prstGeom prst="rect">
            <a:avLst/>
          </a:prstGeom>
          <a:solidFill>
            <a:srgbClr val="FAFAF9"/>
          </a:solidFill>
          <a:ln w="12700">
            <a:solidFill>
              <a:srgbClr val="E4E4E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7260" y="2331720"/>
            <a:ext cx="914400" cy="914400"/>
          </a:xfrm>
          <a:prstGeom prst="ellipse">
            <a:avLst/>
          </a:prstGeom>
          <a:solidFill>
            <a:srgbClr val="EEF3E8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7260" y="23317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⭐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2034540" y="22860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por visita paga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034540" y="27432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 pontos por cada visita registada pela equipa. Saldo visível na área pessoal.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40780" y="1965960"/>
            <a:ext cx="5303520" cy="1691640"/>
          </a:xfrm>
          <a:prstGeom prst="rect">
            <a:avLst/>
          </a:prstGeom>
          <a:solidFill>
            <a:srgbClr val="FAFAF9"/>
          </a:solidFill>
          <a:ln w="12700">
            <a:solidFill>
              <a:srgbClr val="E4E4E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60820" y="2331720"/>
            <a:ext cx="914400" cy="914400"/>
          </a:xfrm>
          <a:prstGeom prst="ellipse">
            <a:avLst/>
          </a:prstGeom>
          <a:solidFill>
            <a:srgbClr val="EEF3E8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60820" y="23317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🎁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7658100" y="22860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Descontos automáticos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658100" y="27432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N visitas (configurável), o sistema cria automaticamente um cupão de 20%.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7220" y="3886200"/>
            <a:ext cx="5303520" cy="1691640"/>
          </a:xfrm>
          <a:prstGeom prst="rect">
            <a:avLst/>
          </a:prstGeom>
          <a:solidFill>
            <a:srgbClr val="FAFAF9"/>
          </a:solidFill>
          <a:ln w="12700">
            <a:solidFill>
              <a:srgbClr val="E4E4E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7260" y="4251960"/>
            <a:ext cx="914400" cy="914400"/>
          </a:xfrm>
          <a:prstGeom prst="ellipse">
            <a:avLst/>
          </a:prstGeom>
          <a:solidFill>
            <a:srgbClr val="EEF3E8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7260" y="42519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🔗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2034540" y="42062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 referido único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2034540" y="46634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cliente recebe um código (ex: ZEN-PEDR42). Ao usar-se, ambos ganham 10%.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40780" y="3886200"/>
            <a:ext cx="5303520" cy="1691640"/>
          </a:xfrm>
          <a:prstGeom prst="rect">
            <a:avLst/>
          </a:prstGeom>
          <a:solidFill>
            <a:srgbClr val="FAFAF9"/>
          </a:solidFill>
          <a:ln w="12700">
            <a:solidFill>
              <a:srgbClr val="E4E4E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60820" y="4251960"/>
            <a:ext cx="914400" cy="914400"/>
          </a:xfrm>
          <a:prstGeom prst="ellipse">
            <a:avLst/>
          </a:prstGeom>
          <a:solidFill>
            <a:srgbClr val="EEF3E8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60820" y="42519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🎂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7658100" y="42062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Desconto de aniversário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658100" y="46634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mês do aniversário, um desconto especial aparece automaticamente na conta.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It · 6 / 14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04088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IADE · L-IG · 2025/2026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DA EQUIPA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dia inteiro à vista · em tempo real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325880" cy="1371600"/>
          </a:xfrm>
          <a:prstGeom prst="rect">
            <a:avLst/>
          </a:prstGeom>
          <a:solidFill>
            <a:srgbClr val="FAFAF9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9456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27889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Marcações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103120" y="1965960"/>
            <a:ext cx="1325880" cy="1371600"/>
          </a:xfrm>
          <a:prstGeom prst="rect">
            <a:avLst/>
          </a:prstGeom>
          <a:solidFill>
            <a:srgbClr val="FAFAF9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03120" y="219456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103120" y="27889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Pendentes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566160" y="1965960"/>
            <a:ext cx="1325880" cy="1371600"/>
          </a:xfrm>
          <a:prstGeom prst="rect">
            <a:avLst/>
          </a:prstGeom>
          <a:solidFill>
            <a:srgbClr val="FAFAF9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66160" y="219456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566160" y="27889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Confirmadas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0" y="1965960"/>
            <a:ext cx="1325880" cy="1371600"/>
          </a:xfrm>
          <a:prstGeom prst="rect">
            <a:avLst/>
          </a:prstGeom>
          <a:solidFill>
            <a:srgbClr val="FAFAF9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0" y="219456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B7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240€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029200" y="27889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Faturação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611880"/>
            <a:ext cx="6400800" cy="2468880"/>
          </a:xfrm>
          <a:prstGeom prst="rect">
            <a:avLst/>
          </a:prstGeom>
          <a:solidFill>
            <a:srgbClr val="FAFAF9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7947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Marcações de hoje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0" y="3886200"/>
            <a:ext cx="91440" cy="91440"/>
          </a:xfrm>
          <a:prstGeom prst="ellipse">
            <a:avLst/>
          </a:prstGeom>
          <a:solidFill>
            <a:srgbClr val="6B7C5A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06440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tempo real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68680" y="42062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F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10:00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45920" y="4206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Silva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566160" y="42062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+ Brushing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0" y="4251960"/>
            <a:ext cx="11887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0" y="42519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68680" y="48006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F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11:30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645920" y="4800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Costa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566160" y="4800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Coloração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0" y="4846320"/>
            <a:ext cx="11887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0" y="4846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Pendente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68680" y="53949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F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14:00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645920" y="5394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 Pinto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566160" y="5394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Tratamento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0" y="5440680"/>
            <a:ext cx="11887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0" y="5440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Concluída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498080" y="16002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em cada marcação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498080" y="196596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9808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</a:rPr>
              <a:t>✓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183880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marcação pendente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7498080" y="274320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B7C5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49808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C5A"/>
                </a:solidFill>
              </a:rPr>
              <a:t>💰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8183880" y="27889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Registar pagamento (Balcão / Online)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7498080" y="352044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2525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0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2525B"/>
                </a:solidFill>
              </a:rPr>
              <a:t>○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183880" y="35661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Marcar como não compareceu (-5 pts)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7498080" y="42976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98080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</a:rPr>
              <a:t>✕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183880" y="4343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Cancelar (sem penalização)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It · 7 / 14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04088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IADE · L-IG · 2025/2026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ADMIN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Controlo total · dados em tempo real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34340" y="1920240"/>
            <a:ext cx="2148840" cy="1371600"/>
          </a:xfrm>
          <a:prstGeom prst="rect">
            <a:avLst/>
          </a:prstGeom>
          <a:solidFill>
            <a:srgbClr val="FAFAF9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4340" y="205740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34340" y="26974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Marcações hoje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20340" y="1920240"/>
            <a:ext cx="2148840" cy="1371600"/>
          </a:xfrm>
          <a:prstGeom prst="rect">
            <a:avLst/>
          </a:prstGeom>
          <a:solidFill>
            <a:srgbClr val="FAFAF9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20340" y="205740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720340" y="26974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Pendentes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06340" y="1920240"/>
            <a:ext cx="2148840" cy="1371600"/>
          </a:xfrm>
          <a:prstGeom prst="rect">
            <a:avLst/>
          </a:prstGeom>
          <a:solidFill>
            <a:srgbClr val="FAFAF9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06340" y="205740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006340" y="26974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Confirmadas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292340" y="1920240"/>
            <a:ext cx="2148840" cy="1371600"/>
          </a:xfrm>
          <a:prstGeom prst="rect">
            <a:avLst/>
          </a:prstGeom>
          <a:solidFill>
            <a:srgbClr val="FAFAF9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92340" y="205740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B7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380€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7292340" y="26974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Faturação hoje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578340" y="1920240"/>
            <a:ext cx="2148840" cy="1371600"/>
          </a:xfrm>
          <a:prstGeom prst="rect">
            <a:avLst/>
          </a:prstGeom>
          <a:solidFill>
            <a:srgbClr val="FAFAF9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78340" y="205740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247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578340" y="26974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clientes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3657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Funcionalidades-chave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4114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🔍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51560" y="41148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global (⌘K)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51560" y="43159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palette para saltar entre painéis e clientes.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0080" y="4617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📅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51560" y="46177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de dia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51560" y="48188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Cronograma visual com eventos coloridos por estado.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0080" y="5120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📥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51560" y="51206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Exportação CSV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51560" y="53218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Marcações e clientes para Excel num clique.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40080" y="5623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⏪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051560" y="562356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Anular ação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51560" y="5824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Toast com botão "Anular" durante 6 segundos.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766560" y="3657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completa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766560" y="4206240"/>
            <a:ext cx="91440" cy="91440"/>
          </a:xfrm>
          <a:prstGeom prst="ellipse">
            <a:avLst/>
          </a:prstGeom>
          <a:solidFill>
            <a:srgbClr val="6B7C5A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49440" y="41148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Serviços individuais e pacotes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766560" y="4498848"/>
            <a:ext cx="91440" cy="91440"/>
          </a:xfrm>
          <a:prstGeom prst="ellipse">
            <a:avLst/>
          </a:prstGeom>
          <a:solidFill>
            <a:srgbClr val="6B7C5A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49440" y="440740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Equipa com horários individuais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766560" y="4791456"/>
            <a:ext cx="91440" cy="91440"/>
          </a:xfrm>
          <a:prstGeom prst="ellipse">
            <a:avLst/>
          </a:prstGeom>
          <a:solidFill>
            <a:srgbClr val="6B7C5A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4700016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Promoções com banner no site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766560" y="5084064"/>
            <a:ext cx="91440" cy="91440"/>
          </a:xfrm>
          <a:prstGeom prst="ellipse">
            <a:avLst/>
          </a:prstGeom>
          <a:solidFill>
            <a:srgbClr val="6B7C5A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49440" y="499262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Configuração de fidelização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766560" y="5376672"/>
            <a:ext cx="91440" cy="91440"/>
          </a:xfrm>
          <a:prstGeom prst="ellipse">
            <a:avLst/>
          </a:prstGeom>
          <a:solidFill>
            <a:srgbClr val="6B7C5A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49440" y="52852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da equipa (hash SHA-256)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766560" y="5669280"/>
            <a:ext cx="91440" cy="91440"/>
          </a:xfrm>
          <a:prstGeom prst="ellipse">
            <a:avLst/>
          </a:prstGeom>
          <a:solidFill>
            <a:srgbClr val="6B7C5A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949440" y="55778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mode persistido por utilizador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It · 8 / 14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04088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IADE · L-IG · 2025/2026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A4B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TÉCNICA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build step. Sem framework. Web standards.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881360" cy="822960"/>
          </a:xfrm>
          <a:prstGeom prst="rect">
            <a:avLst/>
          </a:prstGeom>
          <a:solidFill>
            <a:srgbClr val="FFFFFF">
              <a:alpha val="4000"/>
            </a:srgbClr>
          </a:solidFill>
          <a:ln w="12700">
            <a:solidFill>
              <a:srgbClr val="2727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86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A4B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60120" y="25146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566160" y="22402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AFA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HTML5 · CSS3 · JavaScript (ES Modules)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566160" y="25603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dependências no browser.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3063240"/>
            <a:ext cx="10881360" cy="822960"/>
          </a:xfrm>
          <a:prstGeom prst="rect">
            <a:avLst/>
          </a:prstGeom>
          <a:solidFill>
            <a:srgbClr val="FFFFFF">
              <a:alpha val="4000"/>
            </a:srgbClr>
          </a:solidFill>
          <a:ln w="12700">
            <a:solidFill>
              <a:srgbClr val="2727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A4B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ESTILO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60120" y="3474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Estilo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66160" y="32004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AFA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Sistema próprio (1607 linhas) · Inter font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35204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semânticos · dark mode · responsivo.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4023360"/>
            <a:ext cx="10881360" cy="822960"/>
          </a:xfrm>
          <a:prstGeom prst="rect">
            <a:avLst/>
          </a:prstGeom>
          <a:solidFill>
            <a:srgbClr val="FFFFFF">
              <a:alpha val="4000"/>
            </a:srgbClr>
          </a:solidFill>
          <a:ln w="12700">
            <a:solidFill>
              <a:srgbClr val="2727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A4B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60120" y="4434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566160" y="41605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AFA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Firebase Auth · Firestore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566160" y="44805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por documento · regras de segurança no servidor.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983480"/>
            <a:ext cx="10881360" cy="822960"/>
          </a:xfrm>
          <a:prstGeom prst="rect">
            <a:avLst/>
          </a:prstGeom>
          <a:solidFill>
            <a:srgbClr val="FFFFFF">
              <a:alpha val="4000"/>
            </a:srgbClr>
          </a:solidFill>
          <a:ln w="12700">
            <a:solidFill>
              <a:srgbClr val="2727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5166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A4B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60120" y="5394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566160" y="51206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AFA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Netlify (drag &amp; drop ou GitHub CI)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566160" y="54406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de segurança · 404 personalizado · sitemap.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943600"/>
            <a:ext cx="10881360" cy="822960"/>
          </a:xfrm>
          <a:prstGeom prst="rect">
            <a:avLst/>
          </a:prstGeom>
          <a:solidFill>
            <a:srgbClr val="FFFFFF">
              <a:alpha val="4000"/>
            </a:srgbClr>
          </a:solidFill>
          <a:ln w="12700">
            <a:solidFill>
              <a:srgbClr val="2727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6126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A4B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TRANSAÇÕES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60120" y="63550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Transações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566160" y="60807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AFA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runTransaction · writeBatch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66160" y="64008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Pagamentos + pontos numa só escrita atómica.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It · 9 / 14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04088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IADE · L-IG · 2025/2026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próprio · inspirado em Linear, Stripe e Vercel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de cor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411480" cy="411480"/>
          </a:xfrm>
          <a:prstGeom prst="rect">
            <a:avLst/>
          </a:prstGeom>
          <a:solidFill>
            <a:srgbClr val="6B7C5A"/>
          </a:solidFill>
          <a:ln w="6350">
            <a:solidFill>
              <a:srgbClr val="E4E4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23317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194560" y="23317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#6B7C5A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83280" y="2331720"/>
            <a:ext cx="411480" cy="411480"/>
          </a:xfrm>
          <a:prstGeom prst="rect">
            <a:avLst/>
          </a:prstGeom>
          <a:solidFill>
            <a:srgbClr val="0F0F11"/>
          </a:solidFill>
          <a:ln w="6350">
            <a:solidFill>
              <a:srgbClr val="E4E4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0" y="23317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0" y="23317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#0F0F11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788920"/>
            <a:ext cx="411480" cy="411480"/>
          </a:xfrm>
          <a:prstGeom prst="rect">
            <a:avLst/>
          </a:prstGeom>
          <a:solidFill>
            <a:srgbClr val="52525B"/>
          </a:solidFill>
          <a:ln w="6350">
            <a:solidFill>
              <a:srgbClr val="E4E4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2788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94560" y="27889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#52525B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83280" y="2788920"/>
            <a:ext cx="411480" cy="411480"/>
          </a:xfrm>
          <a:prstGeom prst="rect">
            <a:avLst/>
          </a:prstGeom>
          <a:solidFill>
            <a:srgbClr val="E4E4E7"/>
          </a:solidFill>
          <a:ln w="6350">
            <a:solidFill>
              <a:srgbClr val="E4E4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31920" y="2788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7889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#E4E4E7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246120"/>
            <a:ext cx="411480" cy="411480"/>
          </a:xfrm>
          <a:prstGeom prst="rect">
            <a:avLst/>
          </a:prstGeom>
          <a:solidFill>
            <a:srgbClr val="16A34A"/>
          </a:solidFill>
          <a:ln w="6350">
            <a:solidFill>
              <a:srgbClr val="E4E4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0" y="32461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194560" y="32461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#16A34A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383280" y="3246120"/>
            <a:ext cx="411480" cy="411480"/>
          </a:xfrm>
          <a:prstGeom prst="rect">
            <a:avLst/>
          </a:prstGeom>
          <a:solidFill>
            <a:srgbClr val="D97706"/>
          </a:solidFill>
          <a:ln w="6350">
            <a:solidFill>
              <a:srgbClr val="E4E4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931920" y="32461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37760" y="32461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#D97706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3703320"/>
            <a:ext cx="411480" cy="411480"/>
          </a:xfrm>
          <a:prstGeom prst="rect">
            <a:avLst/>
          </a:prstGeom>
          <a:solidFill>
            <a:srgbClr val="DC2626"/>
          </a:solidFill>
          <a:ln w="6350">
            <a:solidFill>
              <a:srgbClr val="E4E4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88720" y="37033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194560" y="37033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#DC2626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83280" y="3703320"/>
            <a:ext cx="411480" cy="411480"/>
          </a:xfrm>
          <a:prstGeom prst="rect">
            <a:avLst/>
          </a:prstGeom>
          <a:solidFill>
            <a:srgbClr val="2563EB"/>
          </a:solidFill>
          <a:ln w="6350">
            <a:solidFill>
              <a:srgbClr val="E4E4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931920" y="37033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37033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#2563EB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66560" y="1920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Tipografia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766560" y="2331720"/>
            <a:ext cx="4754880" cy="2377440"/>
          </a:xfrm>
          <a:prstGeom prst="rect">
            <a:avLst/>
          </a:prstGeom>
          <a:solidFill>
            <a:srgbClr val="FAFAF9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49440" y="2377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</a:t>
            </a:r>
            <a:endParaRPr lang="en-US" sz="8000" dirty="0"/>
          </a:p>
        </p:txBody>
      </p:sp>
      <p:sp>
        <p:nvSpPr>
          <p:cNvPr id="32" name="Text 30"/>
          <p:cNvSpPr/>
          <p:nvPr/>
        </p:nvSpPr>
        <p:spPr>
          <a:xfrm>
            <a:off x="6949440" y="3429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 · sistema de tipos modular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949440" y="37033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tamanhos (11px → 38px) · letter-spacing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rigoroso · features cv02/03/04/11 ligadas.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🌗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097280" y="51663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+ light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097280" y="5422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persistido por utilizador.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429000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3886200" y="51663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886200" y="5422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Drawer no admin, modais a 100%.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17920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♿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6675120" y="51663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Acessível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675120" y="5422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Focus-visible, ARIA, motion.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006840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9464040" y="51663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build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9464040" y="5422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Carrega &lt;30 KB por página.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It · 10 / 14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04088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IADE · L-IG · 2025/2026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NÚMEROS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está dentro do projeto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94360" y="1920240"/>
            <a:ext cx="2606040" cy="2286000"/>
          </a:xfrm>
          <a:prstGeom prst="rect">
            <a:avLst/>
          </a:prstGeom>
          <a:solidFill>
            <a:srgbClr val="FAFAF9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228600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6B7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6 411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777240" y="33832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de código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37033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· CSS · JS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280" y="1920240"/>
            <a:ext cx="2606040" cy="2286000"/>
          </a:xfrm>
          <a:prstGeom prst="rect">
            <a:avLst/>
          </a:prstGeom>
          <a:solidFill>
            <a:srgbClr val="FAFAF9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228600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6B7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3566160" y="33832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Ficheiros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66160" y="37033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· módulo · doc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2606040" cy="2286000"/>
          </a:xfrm>
          <a:prstGeom prst="rect">
            <a:avLst/>
          </a:prstGeom>
          <a:solidFill>
            <a:srgbClr val="FAFAF9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72200" y="228600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6B7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5600" dirty="0"/>
          </a:p>
        </p:txBody>
      </p:sp>
      <p:sp>
        <p:nvSpPr>
          <p:cNvPr id="14" name="Text 12"/>
          <p:cNvSpPr/>
          <p:nvPr/>
        </p:nvSpPr>
        <p:spPr>
          <a:xfrm>
            <a:off x="6355080" y="33832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 web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55080" y="37033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· staff · admin · setup · login · success · 404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961120" y="1920240"/>
            <a:ext cx="2606040" cy="2286000"/>
          </a:xfrm>
          <a:prstGeom prst="rect">
            <a:avLst/>
          </a:prstGeom>
          <a:solidFill>
            <a:srgbClr val="FAFAF9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0" y="228600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6B7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5600" dirty="0"/>
          </a:p>
        </p:txBody>
      </p:sp>
      <p:sp>
        <p:nvSpPr>
          <p:cNvPr id="18" name="Text 16"/>
          <p:cNvSpPr/>
          <p:nvPr/>
        </p:nvSpPr>
        <p:spPr>
          <a:xfrm>
            <a:off x="9144000" y="33832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Salão multi-tenant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44000" y="37033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 a replicar para o próximo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4617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— fixes na v2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" y="5029200"/>
            <a:ext cx="26060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1206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B7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1600200" y="512064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encontrados na auditoria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83280" y="5029200"/>
            <a:ext cx="26060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66160" y="51206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B7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4389120" y="512064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Bugs corrigidos (XSS, race, atomicidade)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72200" y="5029200"/>
            <a:ext cx="26060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55080" y="51206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B7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178040" y="512064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novas (real-time, ⌘K, CSV)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961120" y="5029200"/>
            <a:ext cx="26060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0" y="51206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B7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200" dirty="0"/>
          </a:p>
        </p:txBody>
      </p:sp>
      <p:sp>
        <p:nvSpPr>
          <p:cNvPr id="32" name="Text 30"/>
          <p:cNvSpPr/>
          <p:nvPr/>
        </p:nvSpPr>
        <p:spPr>
          <a:xfrm>
            <a:off x="9966960" y="512064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 Git documentados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It · 11 / 14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04088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IADE · L-IG · 2025/2026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 Organic Hair Concept · Telheiras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120640" cy="4023360"/>
          </a:xfrm>
          <a:prstGeom prst="rect">
            <a:avLst/>
          </a:prstGeom>
          <a:solidFill>
            <a:srgbClr val="F4F4F0"/>
          </a:solidFill>
          <a:ln w="12700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965960"/>
            <a:ext cx="5120640" cy="457200"/>
          </a:xfrm>
          <a:prstGeom prst="rect">
            <a:avLst/>
          </a:prstGeom>
          <a:solidFill>
            <a:srgbClr val="D4D4D8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12264"/>
            <a:ext cx="164592" cy="16459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2112264"/>
            <a:ext cx="164592" cy="164592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34440" y="2112264"/>
            <a:ext cx="164592" cy="16459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37360" y="20574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zenorganic00.netlify.app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97280" y="28803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i="1" dirty="0">
                <a:solidFill>
                  <a:srgbClr val="6B7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 Organic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097280" y="3657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Hair Concept · Telheiras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411480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Cabeleireiro eco conscious. Cortes,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coloração e tratamentos com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produtos orgânicos cruelty-free.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97280" y="5257800"/>
            <a:ext cx="1554480" cy="457200"/>
          </a:xfrm>
          <a:prstGeom prst="rect">
            <a:avLst/>
          </a:prstGeom>
          <a:solidFill>
            <a:srgbClr val="6B7C5A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52578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Marcar Agora →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0" y="19659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público + Book It integrado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00800" y="24231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ficou para o salão: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0" y="2880360"/>
            <a:ext cx="502920" cy="502920"/>
          </a:xfrm>
          <a:prstGeom prst="ellipse">
            <a:avLst/>
          </a:prstGeom>
          <a:solidFill>
            <a:srgbClr val="EEF3E8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086600" y="2880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institucional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086600" y="31363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Galeria, equipa, parcerias, Zen Club, mapa.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0" y="3566160"/>
            <a:ext cx="502920" cy="502920"/>
          </a:xfrm>
          <a:prstGeom prst="ellipse">
            <a:avLst/>
          </a:prstGeom>
          <a:solidFill>
            <a:srgbClr val="EEF3E8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086600" y="3566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Marcações online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086600" y="38221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Botão "Marcar Agora" abre o Book It.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0" y="4251960"/>
            <a:ext cx="502920" cy="502920"/>
          </a:xfrm>
          <a:prstGeom prst="ellipse">
            <a:avLst/>
          </a:prstGeom>
          <a:solidFill>
            <a:srgbClr val="EEF3E8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4251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08660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Branding consistente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086600" y="45079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 sage #6B7C5A em ambos os lados.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0" y="4937760"/>
            <a:ext cx="502920" cy="502920"/>
          </a:xfrm>
          <a:prstGeom prst="ellipse">
            <a:avLst/>
          </a:prstGeom>
          <a:solidFill>
            <a:srgbClr val="EEF3E8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0" y="4937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💼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086600" y="4937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separado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086600" y="51937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 edita conteúdo do site sem mexer no código.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It · 12 / 14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04088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IADE · L-IG · 2025/2026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vem a seguir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14400" y="3337560"/>
            <a:ext cx="10332720" cy="45720"/>
          </a:xfrm>
          <a:prstGeom prst="rect">
            <a:avLst/>
          </a:prstGeom>
          <a:solidFill>
            <a:srgbClr val="E4E4E7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41398" y="3200400"/>
            <a:ext cx="329184" cy="329184"/>
          </a:xfrm>
          <a:prstGeom prst="ellipse">
            <a:avLst/>
          </a:prstGeom>
          <a:solidFill>
            <a:srgbClr val="6B7C5A"/>
          </a:solidFill>
          <a:ln w="31750">
            <a:solidFill>
              <a:srgbClr val="6B7C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7270" y="2377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6B7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17270" y="3657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v2.1 em produção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17270" y="40690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o que demonstrámos hoje.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24578" y="3200400"/>
            <a:ext cx="329184" cy="3291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6B7C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0450" y="2377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6B7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00450" y="3657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Pagamentos online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00450" y="40690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+ MB Way integrados no portal cliente.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207758" y="3200400"/>
            <a:ext cx="329184" cy="3291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6B7C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83630" y="2377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6B7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183630" y="3657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Notificações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183630" y="40690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Emails automáticos · SMS lembrete · Web Push para staff.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790938" y="3200400"/>
            <a:ext cx="329184" cy="3291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6B7C5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66810" y="2377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6B7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766810" y="3657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Multi-admin &amp; API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766810" y="40690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Vários administradores por salão. API REST pública.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5532120"/>
            <a:ext cx="10881360" cy="640080"/>
          </a:xfrm>
          <a:prstGeom prst="rect">
            <a:avLst/>
          </a:prstGeom>
          <a:solidFill>
            <a:srgbClr val="EEF3E8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5321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0F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Limitação reconhecida: ainda não tem Firestore Security Rules em produção. Documentada no DEPLOY.md.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It · 13 / 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04088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IADE · L-IG · 2025/2026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548640" cy="548640"/>
          </a:xfrm>
          <a:prstGeom prst="rect">
            <a:avLst/>
          </a:prstGeom>
          <a:solidFill>
            <a:srgbClr val="6B7C5A"/>
          </a:solidFill>
          <a:ln w="12700">
            <a:solidFill>
              <a:srgbClr val="6B7C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325880" y="777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Obrigado.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640080" y="34747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A4B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Perguntas?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0080" y="4937760"/>
            <a:ext cx="2446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A4B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5212080"/>
            <a:ext cx="24460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A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bookit00.netlify.app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360420" y="4937760"/>
            <a:ext cx="2446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A4B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60420" y="5212080"/>
            <a:ext cx="24460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A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zenorganic00.netlify.app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080760" y="4937760"/>
            <a:ext cx="2446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A4B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080760" y="5212080"/>
            <a:ext cx="24460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A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github.com/.../bookit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801100" y="4937760"/>
            <a:ext cx="2446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A4B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801100" y="5212080"/>
            <a:ext cx="24460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A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README.md · DEPLOY.md · GUIDE.md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989320"/>
            <a:ext cx="365760" cy="18288"/>
          </a:xfrm>
          <a:prstGeom prst="rect">
            <a:avLst/>
          </a:prstGeom>
          <a:solidFill>
            <a:srgbClr val="A4B699"/>
          </a:solidFill>
          <a:ln w="12700">
            <a:solidFill>
              <a:srgbClr val="A4B6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6126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Pedro Guerreiro 20221080 · Tomás Ramos 20210834 · IADE 2025/2026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IADE · Universidade Europeia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Book It — Apresentação do Projeto</dc:title>
  <dc:subject>PptxGenJS Presentation</dc:subject>
  <dc:creator>Pedro Guerreiro &amp; Tomás Ramos</dc:creator>
  <cp:lastModifiedBy>Pedro Guerreiro &amp; Tomás Ramos</cp:lastModifiedBy>
  <cp:revision>1</cp:revision>
  <dcterms:created xsi:type="dcterms:W3CDTF">2026-05-16T20:16:43Z</dcterms:created>
  <dcterms:modified xsi:type="dcterms:W3CDTF">2026-05-16T20:16:43Z</dcterms:modified>
</cp:coreProperties>
</file>